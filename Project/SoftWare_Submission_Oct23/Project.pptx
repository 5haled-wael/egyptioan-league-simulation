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1"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F2009AC8-B094-4B30-829E-453C62F1C94A}"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139801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009AC8-B094-4B30-829E-453C62F1C94A}"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42749265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2009AC8-B094-4B30-829E-453C62F1C94A}"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384834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2009AC8-B094-4B30-829E-453C62F1C94A}"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2979736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2009AC8-B094-4B30-829E-453C62F1C94A}"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2551079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2009AC8-B094-4B30-829E-453C62F1C94A}"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3138797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009AC8-B094-4B30-829E-453C62F1C94A}"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190819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009AC8-B094-4B30-829E-453C62F1C94A}"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2197089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2009AC8-B094-4B30-829E-453C62F1C94A}"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36480210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009AC8-B094-4B30-829E-453C62F1C94A}"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1433120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2009AC8-B094-4B30-829E-453C62F1C94A}"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103BE4-83E0-4B70-A55B-AAABF804526E}" type="slidenum">
              <a:rPr lang="en-US" smtClean="0"/>
              <a:t>‹#›</a:t>
            </a:fld>
            <a:endParaRPr lang="en-US"/>
          </a:p>
        </p:txBody>
      </p:sp>
    </p:spTree>
    <p:extLst>
      <p:ext uri="{BB962C8B-B14F-4D97-AF65-F5344CB8AC3E}">
        <p14:creationId xmlns:p14="http://schemas.microsoft.com/office/powerpoint/2010/main" val="176681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09AC8-B094-4B30-829E-453C62F1C94A}" type="datetimeFigureOut">
              <a:rPr lang="en-US" smtClean="0"/>
              <a:t>11/18/2025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103BE4-83E0-4B70-A55B-AAABF804526E}" type="slidenum">
              <a:rPr lang="en-US" smtClean="0"/>
              <a:t>‹#›</a:t>
            </a:fld>
            <a:endParaRPr lang="en-US"/>
          </a:p>
        </p:txBody>
      </p:sp>
    </p:spTree>
    <p:extLst>
      <p:ext uri="{BB962C8B-B14F-4D97-AF65-F5344CB8AC3E}">
        <p14:creationId xmlns:p14="http://schemas.microsoft.com/office/powerpoint/2010/main" val="3645802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800" dirty="0" smtClean="0"/>
              <a:t>Smart Egyptian </a:t>
            </a:r>
            <a:r>
              <a:rPr lang="en-US" sz="4800" dirty="0" smtClean="0"/>
              <a:t>League Simulation </a:t>
            </a:r>
            <a:endParaRPr lang="en-US" sz="4800" dirty="0"/>
          </a:p>
        </p:txBody>
      </p:sp>
      <p:sp>
        <p:nvSpPr>
          <p:cNvPr id="3" name="Subtitle 2"/>
          <p:cNvSpPr>
            <a:spLocks noGrp="1"/>
          </p:cNvSpPr>
          <p:nvPr>
            <p:ph type="subTitle" idx="1"/>
          </p:nvPr>
        </p:nvSpPr>
        <p:spPr/>
        <p:txBody>
          <a:bodyPr>
            <a:normAutofit fontScale="55000" lnSpcReduction="20000"/>
          </a:bodyPr>
          <a:lstStyle/>
          <a:p>
            <a:r>
              <a:rPr lang="en-US" dirty="0" smtClean="0"/>
              <a:t>Khaled </a:t>
            </a:r>
            <a:r>
              <a:rPr lang="en-US" dirty="0" err="1" smtClean="0"/>
              <a:t>Wael</a:t>
            </a:r>
            <a:endParaRPr lang="en-US" dirty="0" smtClean="0"/>
          </a:p>
          <a:p>
            <a:r>
              <a:rPr lang="en-US" dirty="0" err="1" smtClean="0"/>
              <a:t>Eslam</a:t>
            </a:r>
            <a:r>
              <a:rPr lang="en-US" dirty="0" smtClean="0"/>
              <a:t> </a:t>
            </a:r>
            <a:r>
              <a:rPr lang="en-US" dirty="0" err="1" smtClean="0"/>
              <a:t>Eldewany</a:t>
            </a:r>
            <a:endParaRPr lang="en-US" dirty="0"/>
          </a:p>
          <a:p>
            <a:r>
              <a:rPr lang="en-US" dirty="0" smtClean="0"/>
              <a:t>Khaled </a:t>
            </a:r>
            <a:r>
              <a:rPr lang="en-US" dirty="0" err="1" smtClean="0"/>
              <a:t>Mousa</a:t>
            </a:r>
            <a:endParaRPr lang="en-US" dirty="0" smtClean="0"/>
          </a:p>
          <a:p>
            <a:r>
              <a:rPr lang="en-US" dirty="0" smtClean="0"/>
              <a:t>Khaled Gamal</a:t>
            </a:r>
          </a:p>
          <a:p>
            <a:r>
              <a:rPr lang="en-US" dirty="0" smtClean="0"/>
              <a:t>Khaled Gamal </a:t>
            </a:r>
            <a:r>
              <a:rPr lang="en-US" dirty="0" err="1" smtClean="0"/>
              <a:t>Mamoon</a:t>
            </a:r>
            <a:endParaRPr lang="en-US" dirty="0" smtClean="0"/>
          </a:p>
          <a:p>
            <a:r>
              <a:rPr lang="en-US" dirty="0" smtClean="0"/>
              <a:t>Khaled </a:t>
            </a:r>
            <a:r>
              <a:rPr lang="en-US" dirty="0" err="1" smtClean="0"/>
              <a:t>Elnaqib</a:t>
            </a:r>
            <a:endParaRPr lang="en-US" dirty="0"/>
          </a:p>
        </p:txBody>
      </p:sp>
    </p:spTree>
    <p:extLst>
      <p:ext uri="{BB962C8B-B14F-4D97-AF65-F5344CB8AC3E}">
        <p14:creationId xmlns:p14="http://schemas.microsoft.com/office/powerpoint/2010/main" val="37529416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a:t>
            </a:r>
            <a:endParaRPr lang="en-US" dirty="0"/>
          </a:p>
        </p:txBody>
      </p:sp>
      <p:sp>
        <p:nvSpPr>
          <p:cNvPr id="3" name="Content Placeholder 2"/>
          <p:cNvSpPr>
            <a:spLocks noGrp="1"/>
          </p:cNvSpPr>
          <p:nvPr>
            <p:ph idx="1"/>
          </p:nvPr>
        </p:nvSpPr>
        <p:spPr/>
        <p:txBody>
          <a:bodyPr/>
          <a:lstStyle/>
          <a:p>
            <a:pPr marL="0" indent="0">
              <a:buNone/>
            </a:pPr>
            <a:r>
              <a:rPr lang="en-US" dirty="0" smtClean="0"/>
              <a:t>A web platform that simulates the Egyptian Premier League using dynamic algorithms to schedule matches, calculate results, and update team standings automatically. Users can choose their favorite team and play matches through a mini‑game, while the system simulates the rest of the league in real time.</a:t>
            </a:r>
            <a:endParaRPr lang="en-US" dirty="0"/>
          </a:p>
        </p:txBody>
      </p:sp>
    </p:spTree>
    <p:extLst>
      <p:ext uri="{BB962C8B-B14F-4D97-AF65-F5344CB8AC3E}">
        <p14:creationId xmlns:p14="http://schemas.microsoft.com/office/powerpoint/2010/main" val="385591295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Functional Requirements: </a:t>
            </a:r>
            <a:endParaRPr lang="en-US" dirty="0">
              <a:latin typeface="Arial" panose="020B0604020202020204" pitchFamily="34" charset="0"/>
              <a:cs typeface="Arial" panose="020B06040202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81399255"/>
              </p:ext>
            </p:extLst>
          </p:nvPr>
        </p:nvGraphicFramePr>
        <p:xfrm>
          <a:off x="838200" y="1528996"/>
          <a:ext cx="10494364" cy="4933628"/>
        </p:xfrm>
        <a:graphic>
          <a:graphicData uri="http://schemas.openxmlformats.org/drawingml/2006/table">
            <a:tbl>
              <a:tblPr firstRow="1" bandRow="1">
                <a:tableStyleId>{5C22544A-7EE6-4342-B048-85BDC9FD1C3A}</a:tableStyleId>
              </a:tblPr>
              <a:tblGrid>
                <a:gridCol w="5247182">
                  <a:extLst>
                    <a:ext uri="{9D8B030D-6E8A-4147-A177-3AD203B41FA5}">
                      <a16:colId xmlns:a16="http://schemas.microsoft.com/office/drawing/2014/main" val="4086771261"/>
                    </a:ext>
                  </a:extLst>
                </a:gridCol>
                <a:gridCol w="5247182">
                  <a:extLst>
                    <a:ext uri="{9D8B030D-6E8A-4147-A177-3AD203B41FA5}">
                      <a16:colId xmlns:a16="http://schemas.microsoft.com/office/drawing/2014/main" val="3154632810"/>
                    </a:ext>
                  </a:extLst>
                </a:gridCol>
              </a:tblGrid>
              <a:tr h="38393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Data Storage</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100" dirty="0">
                          <a:effectLst/>
                          <a:latin typeface="Aptos"/>
                          <a:ea typeface="Aptos"/>
                          <a:cs typeface="Arial" panose="020B0604020202020204" pitchFamily="34" charset="0"/>
                        </a:rPr>
                        <a:t>The system shall store data (results, rankings, user progress) securely.</a:t>
                      </a:r>
                    </a:p>
                  </a:txBody>
                  <a:tcPr marL="68580" marR="68580" marT="0" marB="0"/>
                </a:tc>
                <a:extLst>
                  <a:ext uri="{0D108BD9-81ED-4DB2-BD59-A6C34878D82A}">
                    <a16:rowId xmlns:a16="http://schemas.microsoft.com/office/drawing/2014/main" val="667763427"/>
                  </a:ext>
                </a:extLst>
              </a:tr>
              <a:tr h="44132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Team Registration</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allow adding, editing, and deleting teams.</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3363296917"/>
                  </a:ext>
                </a:extLst>
              </a:tr>
              <a:tr h="533834">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Match Scheduling</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100" dirty="0">
                          <a:effectLst/>
                          <a:latin typeface="Aptos"/>
                          <a:ea typeface="Aptos"/>
                          <a:cs typeface="Arial" panose="020B0604020202020204" pitchFamily="34" charset="0"/>
                        </a:rPr>
                        <a:t>The system shall dynamically generate match schedules for all teams and rounds.</a:t>
                      </a:r>
                    </a:p>
                  </a:txBody>
                  <a:tcPr marL="68580" marR="68580" marT="0" marB="0"/>
                </a:tc>
                <a:extLst>
                  <a:ext uri="{0D108BD9-81ED-4DB2-BD59-A6C34878D82A}">
                    <a16:rowId xmlns:a16="http://schemas.microsoft.com/office/drawing/2014/main" val="1199841825"/>
                  </a:ext>
                </a:extLst>
              </a:tr>
              <a:tr h="44132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Match Results</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record match results manually or automatically.</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648926274"/>
                  </a:ext>
                </a:extLst>
              </a:tr>
              <a:tr h="44132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Points Calculation</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calculate points after each match according to results.</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2194432766"/>
                  </a:ext>
                </a:extLst>
              </a:tr>
              <a:tr h="55663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League Standings</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automatically update team rankings based on total points and goal difference.</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3843590362"/>
                  </a:ext>
                </a:extLst>
              </a:tr>
              <a:tr h="55663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Auto Simulation</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simulate other matches automatically while the user plays their match.</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79316586"/>
                  </a:ext>
                </a:extLst>
              </a:tr>
              <a:tr h="44132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Team Selection</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allow the user to select a favorite team to play with.</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2921179576"/>
                  </a:ext>
                </a:extLst>
              </a:tr>
              <a:tr h="473875">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Mini Game</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provide an interactive mini-game for the user’s match.</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4203465351"/>
                  </a:ext>
                </a:extLst>
              </a:tr>
              <a:tr h="556633">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Statistics Display</a:t>
                      </a:r>
                      <a:endParaRPr lang="en-US" sz="1400" kern="100" dirty="0">
                        <a:effectLst/>
                        <a:latin typeface="Aptos"/>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400" kern="0" dirty="0">
                          <a:effectLst/>
                          <a:latin typeface="Times New Roman" panose="02020603050405020304" pitchFamily="18" charset="0"/>
                          <a:ea typeface="Times New Roman" panose="02020603050405020304" pitchFamily="18" charset="0"/>
                          <a:cs typeface="Arial" panose="020B0604020202020204" pitchFamily="34" charset="0"/>
                        </a:rPr>
                        <a:t>The system shall display standings, match history, and performance stats.</a:t>
                      </a:r>
                      <a:endParaRPr lang="en-US" sz="1400" kern="100" dirty="0">
                        <a:effectLst/>
                        <a:latin typeface="Aptos"/>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795219887"/>
                  </a:ext>
                </a:extLst>
              </a:tr>
            </a:tbl>
          </a:graphicData>
        </a:graphic>
      </p:graphicFrame>
    </p:spTree>
    <p:extLst>
      <p:ext uri="{BB962C8B-B14F-4D97-AF65-F5344CB8AC3E}">
        <p14:creationId xmlns:p14="http://schemas.microsoft.com/office/powerpoint/2010/main" val="21508556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panose="020B0604020202020204" pitchFamily="34" charset="0"/>
                <a:cs typeface="Arial" panose="020B0604020202020204" pitchFamily="34" charset="0"/>
              </a:rPr>
              <a:t>Non Functional Requirements: </a:t>
            </a:r>
            <a:endParaRPr lang="en-US" dirty="0">
              <a:latin typeface="Arial" panose="020B0604020202020204" pitchFamily="34" charset="0"/>
              <a:cs typeface="Arial" panose="020B0604020202020204"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19470949"/>
              </p:ext>
            </p:extLst>
          </p:nvPr>
        </p:nvGraphicFramePr>
        <p:xfrm>
          <a:off x="838200" y="1528996"/>
          <a:ext cx="10494364" cy="4691922"/>
        </p:xfrm>
        <a:graphic>
          <a:graphicData uri="http://schemas.openxmlformats.org/drawingml/2006/table">
            <a:tbl>
              <a:tblPr firstRow="1" bandRow="1">
                <a:tableStyleId>{5C22544A-7EE6-4342-B048-85BDC9FD1C3A}</a:tableStyleId>
              </a:tblPr>
              <a:tblGrid>
                <a:gridCol w="5247182">
                  <a:extLst>
                    <a:ext uri="{9D8B030D-6E8A-4147-A177-3AD203B41FA5}">
                      <a16:colId xmlns:a16="http://schemas.microsoft.com/office/drawing/2014/main" val="4086771261"/>
                    </a:ext>
                  </a:extLst>
                </a:gridCol>
                <a:gridCol w="5247182">
                  <a:extLst>
                    <a:ext uri="{9D8B030D-6E8A-4147-A177-3AD203B41FA5}">
                      <a16:colId xmlns:a16="http://schemas.microsoft.com/office/drawing/2014/main" val="3154632810"/>
                    </a:ext>
                  </a:extLst>
                </a:gridCol>
              </a:tblGrid>
              <a:tr h="406403">
                <a:tc>
                  <a:txBody>
                    <a:bodyPr/>
                    <a:lstStyle/>
                    <a:p>
                      <a:pPr marL="0" marR="0">
                        <a:lnSpc>
                          <a:spcPct val="115000"/>
                        </a:lnSpc>
                        <a:spcBef>
                          <a:spcPts val="0"/>
                        </a:spcBef>
                        <a:spcAft>
                          <a:spcPts val="0"/>
                        </a:spcAft>
                      </a:pPr>
                      <a:r>
                        <a:rPr lang="en-US" sz="1500" b="1" kern="1200" dirty="0" smtClean="0">
                          <a:solidFill>
                            <a:schemeClr val="lt1"/>
                          </a:solidFill>
                          <a:effectLst/>
                          <a:latin typeface="Arial" panose="020B0604020202020204" pitchFamily="34" charset="0"/>
                          <a:ea typeface="+mn-ea"/>
                          <a:cs typeface="Arial" panose="020B0604020202020204" pitchFamily="34" charset="0"/>
                        </a:rPr>
                        <a:t>Performance</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Pages should load within 3 seconds.</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667763427"/>
                  </a:ext>
                </a:extLst>
              </a:tr>
              <a:tr h="553056">
                <a:tc>
                  <a:txBody>
                    <a:bodyPr/>
                    <a:lstStyle/>
                    <a:p>
                      <a:pPr marL="0" marR="0">
                        <a:lnSpc>
                          <a:spcPct val="115000"/>
                        </a:lnSpc>
                        <a:spcBef>
                          <a:spcPts val="0"/>
                        </a:spcBef>
                        <a:spcAft>
                          <a:spcPts val="0"/>
                        </a:spcAft>
                      </a:pPr>
                      <a:r>
                        <a:rPr lang="en-US" sz="1500" kern="100" dirty="0">
                          <a:effectLst/>
                          <a:latin typeface="Arial" panose="020B0604020202020204" pitchFamily="34" charset="0"/>
                          <a:ea typeface="Aptos"/>
                          <a:cs typeface="Arial" panose="020B0604020202020204" pitchFamily="34" charset="0"/>
                        </a:rPr>
                        <a:t>Scalability</a:t>
                      </a:r>
                    </a:p>
                  </a:txBody>
                  <a:tcPr marL="9525" marR="9525" marT="9525" marB="9525" anchor="ctr"/>
                </a:tc>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The system should support adding new teams or rounds easily.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3363296917"/>
                  </a:ext>
                </a:extLst>
              </a:tr>
              <a:tr h="565077">
                <a:tc>
                  <a:txBody>
                    <a:bodyPr/>
                    <a:lstStyle/>
                    <a:p>
                      <a:pPr marL="0" marR="0">
                        <a:lnSpc>
                          <a:spcPct val="115000"/>
                        </a:lnSpc>
                        <a:spcBef>
                          <a:spcPts val="0"/>
                        </a:spcBef>
                        <a:spcAft>
                          <a:spcPts val="0"/>
                        </a:spcAft>
                      </a:pPr>
                      <a:r>
                        <a:rPr lang="en-US" sz="1500" kern="100" dirty="0">
                          <a:effectLst/>
                          <a:latin typeface="Arial" panose="020B0604020202020204" pitchFamily="34" charset="0"/>
                          <a:ea typeface="Aptos"/>
                          <a:cs typeface="Arial" panose="020B0604020202020204" pitchFamily="34" charset="0"/>
                        </a:rPr>
                        <a:t>Usability</a:t>
                      </a:r>
                    </a:p>
                  </a:txBody>
                  <a:tcPr marL="9525" marR="9525" marT="9525" marB="9525" anchor="ctr"/>
                </a:tc>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The interface should be user-friendly and intuitive.</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199841825"/>
                  </a:ext>
                </a:extLst>
              </a:tr>
              <a:tr h="467151">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Accuracy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All match calculations and standings must be correct.</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648926274"/>
                  </a:ext>
                </a:extLst>
              </a:tr>
              <a:tr h="553056">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Security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User and match data must be protected from unauthorized access.</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2194432766"/>
                  </a:ext>
                </a:extLst>
              </a:tr>
              <a:tr h="589210">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Compatibility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The system should work on all major browsers and devices.</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3843590362"/>
                  </a:ext>
                </a:extLst>
              </a:tr>
              <a:tr h="589210">
                <a:tc>
                  <a:txBody>
                    <a:bodyPr/>
                    <a:lstStyle/>
                    <a:p>
                      <a:pPr marL="0" marR="0">
                        <a:lnSpc>
                          <a:spcPct val="115000"/>
                        </a:lnSpc>
                        <a:spcBef>
                          <a:spcPts val="0"/>
                        </a:spcBef>
                        <a:spcAft>
                          <a:spcPts val="0"/>
                        </a:spcAft>
                      </a:pPr>
                      <a:r>
                        <a:rPr lang="en-US" sz="1500" kern="0" dirty="0">
                          <a:effectLst/>
                          <a:latin typeface="Arial" panose="020B0604020202020204" pitchFamily="34" charset="0"/>
                          <a:ea typeface="Times New Roman" panose="02020603050405020304" pitchFamily="18" charset="0"/>
                          <a:cs typeface="Arial" panose="020B0604020202020204" pitchFamily="34" charset="0"/>
                        </a:rPr>
                        <a:t>Responsiveness</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The design should adapt to mobile, tablet, and desktop screens.</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179316586"/>
                  </a:ext>
                </a:extLst>
              </a:tr>
              <a:tr h="467151">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Interactivity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The mini-game should respond smoothly to user input.</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2921179576"/>
                  </a:ext>
                </a:extLst>
              </a:tr>
              <a:tr h="501608">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Maintainability</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tc>
                  <a:txBody>
                    <a:bodyPr/>
                    <a:lstStyle/>
                    <a:p>
                      <a:pPr marL="0" marR="0">
                        <a:lnSpc>
                          <a:spcPct val="115000"/>
                        </a:lnSpc>
                        <a:spcBef>
                          <a:spcPts val="0"/>
                        </a:spcBef>
                        <a:spcAft>
                          <a:spcPts val="0"/>
                        </a:spcAft>
                      </a:pPr>
                      <a:r>
                        <a:rPr lang="en-US" sz="1500" kern="1200" dirty="0" smtClean="0">
                          <a:solidFill>
                            <a:schemeClr val="dk1"/>
                          </a:solidFill>
                          <a:effectLst/>
                          <a:latin typeface="Arial" panose="020B0604020202020204" pitchFamily="34" charset="0"/>
                          <a:ea typeface="+mn-ea"/>
                          <a:cs typeface="Arial" panose="020B0604020202020204" pitchFamily="34" charset="0"/>
                        </a:rPr>
                        <a:t>The codebase should be easy to update and extend.</a:t>
                      </a:r>
                      <a:endParaRPr lang="en-US" sz="1500" kern="100" dirty="0">
                        <a:effectLst/>
                        <a:latin typeface="Arial" panose="020B0604020202020204" pitchFamily="34" charset="0"/>
                        <a:ea typeface="Aptos"/>
                        <a:cs typeface="Arial" panose="020B0604020202020204" pitchFamily="34" charset="0"/>
                      </a:endParaRPr>
                    </a:p>
                  </a:txBody>
                  <a:tcPr marL="9525" marR="9525" marT="9525" marB="9525" anchor="ctr"/>
                </a:tc>
                <a:extLst>
                  <a:ext uri="{0D108BD9-81ED-4DB2-BD59-A6C34878D82A}">
                    <a16:rowId xmlns:a16="http://schemas.microsoft.com/office/drawing/2014/main" val="4203465351"/>
                  </a:ext>
                </a:extLst>
              </a:tr>
            </a:tbl>
          </a:graphicData>
        </a:graphic>
      </p:graphicFrame>
    </p:spTree>
    <p:extLst>
      <p:ext uri="{BB962C8B-B14F-4D97-AF65-F5344CB8AC3E}">
        <p14:creationId xmlns:p14="http://schemas.microsoft.com/office/powerpoint/2010/main" val="38869809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a:t>
            </a:r>
            <a:endParaRPr lang="en-US" dirty="0"/>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93495" y="1825625"/>
            <a:ext cx="7390151" cy="4351338"/>
          </a:xfrm>
        </p:spPr>
      </p:pic>
    </p:spTree>
    <p:extLst>
      <p:ext uri="{BB962C8B-B14F-4D97-AF65-F5344CB8AC3E}">
        <p14:creationId xmlns:p14="http://schemas.microsoft.com/office/powerpoint/2010/main" val="3186973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Game Sequence: </a:t>
            </a:r>
            <a:endParaRPr lang="en-US"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3082" y="1825625"/>
            <a:ext cx="6220917" cy="4351338"/>
          </a:xfrm>
        </p:spPr>
      </p:pic>
    </p:spTree>
    <p:extLst>
      <p:ext uri="{BB962C8B-B14F-4D97-AF65-F5344CB8AC3E}">
        <p14:creationId xmlns:p14="http://schemas.microsoft.com/office/powerpoint/2010/main" val="24826981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League Table Request:</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67876" y="1825625"/>
            <a:ext cx="5856247" cy="4351338"/>
          </a:xfrm>
        </p:spPr>
      </p:pic>
    </p:spTree>
    <p:extLst>
      <p:ext uri="{BB962C8B-B14F-4D97-AF65-F5344CB8AC3E}">
        <p14:creationId xmlns:p14="http://schemas.microsoft.com/office/powerpoint/2010/main" val="4961767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Line-up:</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7561" y="1825625"/>
            <a:ext cx="4407108" cy="4351338"/>
          </a:xfrm>
        </p:spPr>
      </p:pic>
    </p:spTree>
    <p:extLst>
      <p:ext uri="{BB962C8B-B14F-4D97-AF65-F5344CB8AC3E}">
        <p14:creationId xmlns:p14="http://schemas.microsoft.com/office/powerpoint/2010/main" val="410805742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Manage Players: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5144" y="1825625"/>
            <a:ext cx="6662056" cy="4351338"/>
          </a:xfrm>
        </p:spPr>
      </p:pic>
    </p:spTree>
    <p:extLst>
      <p:ext uri="{BB962C8B-B14F-4D97-AF65-F5344CB8AC3E}">
        <p14:creationId xmlns:p14="http://schemas.microsoft.com/office/powerpoint/2010/main" val="273631120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Select Team:</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8057" y="1825625"/>
            <a:ext cx="6720114" cy="4351338"/>
          </a:xfrm>
        </p:spPr>
      </p:pic>
    </p:spTree>
    <p:extLst>
      <p:ext uri="{BB962C8B-B14F-4D97-AF65-F5344CB8AC3E}">
        <p14:creationId xmlns:p14="http://schemas.microsoft.com/office/powerpoint/2010/main" val="204713432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Simulate Match:</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25486" y="1825625"/>
            <a:ext cx="6894285" cy="4351338"/>
          </a:xfrm>
        </p:spPr>
      </p:pic>
    </p:spTree>
    <p:extLst>
      <p:ext uri="{BB962C8B-B14F-4D97-AF65-F5344CB8AC3E}">
        <p14:creationId xmlns:p14="http://schemas.microsoft.com/office/powerpoint/2010/main" val="442209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Team Details: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6113" y="1825625"/>
            <a:ext cx="6749143" cy="4351338"/>
          </a:xfrm>
        </p:spPr>
      </p:pic>
    </p:spTree>
    <p:extLst>
      <p:ext uri="{BB962C8B-B14F-4D97-AF65-F5344CB8AC3E}">
        <p14:creationId xmlns:p14="http://schemas.microsoft.com/office/powerpoint/2010/main" val="910574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Updated league table: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7430" y="1840139"/>
            <a:ext cx="7199084" cy="4351338"/>
          </a:xfrm>
        </p:spPr>
      </p:pic>
    </p:spTree>
    <p:extLst>
      <p:ext uri="{BB962C8B-B14F-4D97-AF65-F5344CB8AC3E}">
        <p14:creationId xmlns:p14="http://schemas.microsoft.com/office/powerpoint/2010/main" val="14053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Match Results: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94857" y="1825625"/>
            <a:ext cx="7039429" cy="4351338"/>
          </a:xfrm>
        </p:spPr>
      </p:pic>
    </p:spTree>
    <p:extLst>
      <p:ext uri="{BB962C8B-B14F-4D97-AF65-F5344CB8AC3E}">
        <p14:creationId xmlns:p14="http://schemas.microsoft.com/office/powerpoint/2010/main" val="52590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Top Scorers: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0343" y="1825625"/>
            <a:ext cx="7039428" cy="4351338"/>
          </a:xfrm>
        </p:spPr>
      </p:pic>
    </p:spTree>
    <p:extLst>
      <p:ext uri="{BB962C8B-B14F-4D97-AF65-F5344CB8AC3E}">
        <p14:creationId xmlns:p14="http://schemas.microsoft.com/office/powerpoint/2010/main" val="3773201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Upcoming Matches: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96457" y="1825625"/>
            <a:ext cx="6807200" cy="4351338"/>
          </a:xfrm>
        </p:spPr>
      </p:pic>
    </p:spTree>
    <p:extLst>
      <p:ext uri="{BB962C8B-B14F-4D97-AF65-F5344CB8AC3E}">
        <p14:creationId xmlns:p14="http://schemas.microsoft.com/office/powerpoint/2010/main" val="12617757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TotalTime>
  <Words>366</Words>
  <Application>Microsoft Office PowerPoint</Application>
  <PresentationFormat>Widescreen</PresentationFormat>
  <Paragraphs>61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Times New Roman</vt:lpstr>
      <vt:lpstr>Office Theme</vt:lpstr>
      <vt:lpstr>Smart Egyptian League Simulation </vt:lpstr>
      <vt:lpstr>Description:</vt:lpstr>
      <vt:lpstr>Functional Requirements: </vt:lpstr>
      <vt:lpstr>Non Functional Requirements: </vt:lpstr>
      <vt:lpstr>Use case:</vt:lpstr>
      <vt:lpstr>Game Sequence: </vt:lpstr>
      <vt:lpstr>League Table Request:</vt:lpstr>
      <vt:lpstr>Line-up:</vt:lpstr>
      <vt:lpstr>Manage Players:</vt:lpstr>
      <vt:lpstr>Select Team:</vt:lpstr>
      <vt:lpstr>Simulate Match:</vt:lpstr>
      <vt:lpstr>Team Details:</vt:lpstr>
      <vt:lpstr>Updated league table:</vt:lpstr>
      <vt:lpstr>View Match Results:</vt:lpstr>
      <vt:lpstr>View Top Scorers:</vt:lpstr>
      <vt:lpstr>View Upcoming Matches: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Egyptian League Simulation </dc:title>
  <dc:creator>Khaled</dc:creator>
  <cp:lastModifiedBy>Khaled</cp:lastModifiedBy>
  <cp:revision>6</cp:revision>
  <dcterms:created xsi:type="dcterms:W3CDTF">2025-11-16T08:46:12Z</dcterms:created>
  <dcterms:modified xsi:type="dcterms:W3CDTF">2025-11-18T18:40:02Z</dcterms:modified>
</cp:coreProperties>
</file>