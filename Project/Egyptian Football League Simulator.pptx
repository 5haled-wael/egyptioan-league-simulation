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ITC Avant Garde Gothic" charset="1" panose="020B0502020202020204"/>
      <p:regular r:id="rId41"/>
    </p:embeddedFont>
    <p:embeddedFont>
      <p:font typeface="TT Fors" charset="1" panose="020B0003030001020000"/>
      <p:regular r:id="rId42"/>
    </p:embeddedFont>
    <p:embeddedFont>
      <p:font typeface="TT Fors Bold" charset="1" panose="020B000303000102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grpSp>
        <p:nvGrpSpPr>
          <p:cNvPr name="Group 2" id="2"/>
          <p:cNvGrpSpPr/>
          <p:nvPr/>
        </p:nvGrpSpPr>
        <p:grpSpPr>
          <a:xfrm rot="0">
            <a:off x="11877675"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10706100" cy="3682999"/>
            <a:chOff x="0" y="0"/>
            <a:chExt cx="14274800" cy="4910666"/>
          </a:xfrm>
        </p:grpSpPr>
        <p:sp>
          <p:nvSpPr>
            <p:cNvPr name="TextBox 5" id="5"/>
            <p:cNvSpPr txBox="true"/>
            <p:nvPr/>
          </p:nvSpPr>
          <p:spPr>
            <a:xfrm rot="0">
              <a:off x="0" y="1184275"/>
              <a:ext cx="14274800" cy="3726391"/>
            </a:xfrm>
            <a:prstGeom prst="rect">
              <a:avLst/>
            </a:prstGeom>
          </p:spPr>
          <p:txBody>
            <a:bodyPr anchor="t" rtlCol="false" tIns="0" lIns="0" bIns="0" rIns="0">
              <a:spAutoFit/>
            </a:bodyPr>
            <a:lstStyle/>
            <a:p>
              <a:pPr algn="l">
                <a:lnSpc>
                  <a:spcPts val="9999"/>
                </a:lnSpc>
              </a:pPr>
              <a:r>
                <a:rPr lang="en-US" sz="9999" spc="-299">
                  <a:solidFill>
                    <a:srgbClr val="F7F0D9"/>
                  </a:solidFill>
                  <a:latin typeface="ITC Avant Garde Gothic"/>
                  <a:ea typeface="ITC Avant Garde Gothic"/>
                  <a:cs typeface="ITC Avant Garde Gothic"/>
                  <a:sym typeface="ITC Avant Garde Gothic"/>
                </a:rPr>
                <a:t>Smart </a:t>
              </a:r>
            </a:p>
            <a:p>
              <a:pPr algn="l" marL="0" indent="0" lvl="0">
                <a:lnSpc>
                  <a:spcPts val="9999"/>
                </a:lnSpc>
              </a:pPr>
              <a:r>
                <a:rPr lang="en-US" sz="9999" spc="-299">
                  <a:solidFill>
                    <a:srgbClr val="F7F0D9"/>
                  </a:solidFill>
                  <a:latin typeface="ITC Avant Garde Gothic"/>
                  <a:ea typeface="ITC Avant Garde Gothic"/>
                  <a:cs typeface="ITC Avant Garde Gothic"/>
                  <a:sym typeface="ITC Avant Garde Gothic"/>
                </a:rPr>
                <a:t>Egyptian League Simulation</a:t>
              </a: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p>
          </p:txBody>
        </p:sp>
      </p:grpSp>
      <p:sp>
        <p:nvSpPr>
          <p:cNvPr name="TextBox 7" id="7"/>
          <p:cNvSpPr txBox="true"/>
          <p:nvPr/>
        </p:nvSpPr>
        <p:spPr>
          <a:xfrm rot="0">
            <a:off x="666750" y="6154405"/>
            <a:ext cx="5548312" cy="3467100"/>
          </a:xfrm>
          <a:prstGeom prst="rect">
            <a:avLst/>
          </a:prstGeom>
        </p:spPr>
        <p:txBody>
          <a:bodyPr anchor="t" rtlCol="false" tIns="0" lIns="0" bIns="0" rIns="0">
            <a:spAutoFit/>
          </a:bodyPr>
          <a:lstStyle/>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by:</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Wael</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Mohamed Mousa </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Gamal Ebrahim</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Gamal Mamon </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Elnaqib</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Eslam Samy Eldewany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6803499"/>
            <a:chOff x="0" y="0"/>
            <a:chExt cx="22499630" cy="9071332"/>
          </a:xfrm>
        </p:grpSpPr>
        <p:sp>
          <p:nvSpPr>
            <p:cNvPr name="TextBox 3" id="3"/>
            <p:cNvSpPr txBox="true"/>
            <p:nvPr/>
          </p:nvSpPr>
          <p:spPr>
            <a:xfrm rot="0">
              <a:off x="0" y="0"/>
              <a:ext cx="19682454" cy="2131151"/>
            </a:xfrm>
            <a:prstGeom prst="rect">
              <a:avLst/>
            </a:prstGeom>
          </p:spPr>
          <p:txBody>
            <a:bodyPr anchor="t" rtlCol="false" tIns="0" lIns="0" bIns="0" rIns="0">
              <a:spAutoFit/>
            </a:bodyPr>
            <a:lstStyle/>
            <a:p>
              <a:pPr algn="l" marL="0" indent="0" lvl="0">
                <a:lnSpc>
                  <a:spcPts val="10542"/>
                </a:lnSpc>
                <a:spcBef>
                  <a:spcPct val="0"/>
                </a:spcBef>
              </a:pPr>
              <a:r>
                <a:rPr lang="en-US" sz="10542" spc="-316" strike="noStrike" u="none">
                  <a:solidFill>
                    <a:srgbClr val="0A2E4D"/>
                  </a:solidFill>
                  <a:latin typeface="ITC Avant Garde Gothic"/>
                  <a:ea typeface="ITC Avant Garde Gothic"/>
                  <a:cs typeface="ITC Avant Garde Gothic"/>
                  <a:sym typeface="ITC Avant Garde Gothic"/>
                </a:rPr>
                <a:t>Introduction</a:t>
              </a:r>
            </a:p>
          </p:txBody>
        </p:sp>
        <p:sp>
          <p:nvSpPr>
            <p:cNvPr name="TextBox 4" id="4"/>
            <p:cNvSpPr txBox="true"/>
            <p:nvPr/>
          </p:nvSpPr>
          <p:spPr>
            <a:xfrm rot="0">
              <a:off x="0" y="3105841"/>
              <a:ext cx="22499630" cy="5965491"/>
            </a:xfrm>
            <a:prstGeom prst="rect">
              <a:avLst/>
            </a:prstGeom>
          </p:spPr>
          <p:txBody>
            <a:bodyPr anchor="t" rtlCol="false" tIns="0" lIns="0" bIns="0" rIns="0">
              <a:spAutoFit/>
            </a:bodyPr>
            <a:lstStyle/>
            <a:p>
              <a:pPr algn="l" marL="0" indent="0" lvl="0">
                <a:lnSpc>
                  <a:spcPts val="5959"/>
                </a:lnSpc>
              </a:pPr>
              <a:r>
                <a:rPr lang="en-US" sz="4256">
                  <a:solidFill>
                    <a:srgbClr val="0A2E4D"/>
                  </a:solidFill>
                  <a:latin typeface="TT Fors"/>
                  <a:ea typeface="TT Fors"/>
                  <a:cs typeface="TT Fors"/>
                  <a:sym typeface="TT Fors"/>
                </a:rPr>
                <a:t>A dynamic</a:t>
              </a:r>
              <a:r>
                <a:rPr lang="en-US" sz="4256">
                  <a:solidFill>
                    <a:srgbClr val="0A2E4D"/>
                  </a:solidFill>
                  <a:latin typeface="TT Fors"/>
                  <a:ea typeface="TT Fors"/>
                  <a:cs typeface="TT Fors"/>
                  <a:sym typeface="TT Fors"/>
                </a:rPr>
                <a:t> web platform that simulates the Egyptian Premier League using automated algorithms to schedule matches, generate results, and update team standings in real time. Users can select their favorite team and play through an interactive mini-game, while the system simulates the remaining fixtures automatically.</a:t>
              </a: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1891" r="0" b="-1891"/>
              </a:stretch>
            </a:blipFill>
          </p:spPr>
        </p:sp>
      </p:grpSp>
      <p:grpSp>
        <p:nvGrpSpPr>
          <p:cNvPr name="Group 4" id="4"/>
          <p:cNvGrpSpPr/>
          <p:nvPr/>
        </p:nvGrpSpPr>
        <p:grpSpPr>
          <a:xfrm rot="0">
            <a:off x="666750" y="666750"/>
            <a:ext cx="8324850" cy="6947340"/>
            <a:chOff x="0" y="0"/>
            <a:chExt cx="11099800" cy="9263120"/>
          </a:xfrm>
        </p:grpSpPr>
        <p:sp>
          <p:nvSpPr>
            <p:cNvPr name="TextBox 5" id="5"/>
            <p:cNvSpPr txBox="true"/>
            <p:nvPr/>
          </p:nvSpPr>
          <p:spPr>
            <a:xfrm rot="0">
              <a:off x="0" y="-9525"/>
              <a:ext cx="11099800" cy="4319059"/>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0A2E4D"/>
                  </a:solidFill>
                  <a:latin typeface="ITC Avant Garde Gothic"/>
                  <a:ea typeface="ITC Avant Garde Gothic"/>
                  <a:cs typeface="ITC Avant Garde Gothic"/>
                  <a:sym typeface="ITC Avant Garde Gothic"/>
                </a:rPr>
                <a:t>Func</a:t>
              </a:r>
              <a:r>
                <a:rPr lang="en-US" sz="8000" spc="-240" strike="noStrike" u="none">
                  <a:solidFill>
                    <a:srgbClr val="0A2E4D"/>
                  </a:solidFill>
                  <a:latin typeface="ITC Avant Garde Gothic"/>
                  <a:ea typeface="ITC Avant Garde Gothic"/>
                  <a:cs typeface="ITC Avant Garde Gothic"/>
                  <a:sym typeface="ITC Avant Garde Gothic"/>
                </a:rPr>
                <a:t>t</a:t>
              </a:r>
              <a:r>
                <a:rPr lang="en-US" sz="8000" spc="-240" strike="noStrike" u="none">
                  <a:solidFill>
                    <a:srgbClr val="0A2E4D"/>
                  </a:solidFill>
                  <a:latin typeface="ITC Avant Garde Gothic"/>
                  <a:ea typeface="ITC Avant Garde Gothic"/>
                  <a:cs typeface="ITC Avant Garde Gothic"/>
                  <a:sym typeface="ITC Avant Garde Gothic"/>
                </a:rPr>
                <a:t>ional</a:t>
              </a:r>
              <a:r>
                <a:rPr lang="en-US" sz="8000" spc="-240" strike="noStrike" u="none">
                  <a:solidFill>
                    <a:srgbClr val="0A2E4D"/>
                  </a:solidFill>
                  <a:latin typeface="ITC Avant Garde Gothic"/>
                  <a:ea typeface="ITC Avant Garde Gothic"/>
                  <a:cs typeface="ITC Avant Garde Gothic"/>
                  <a:sym typeface="ITC Avant Garde Gothic"/>
                </a:rPr>
                <a:t> Requirements Overview</a:t>
              </a:r>
            </a:p>
          </p:txBody>
        </p:sp>
        <p:sp>
          <p:nvSpPr>
            <p:cNvPr name="TextBox 6" id="6"/>
            <p:cNvSpPr txBox="true"/>
            <p:nvPr/>
          </p:nvSpPr>
          <p:spPr>
            <a:xfrm rot="0">
              <a:off x="0" y="4555865"/>
              <a:ext cx="11099800"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0A2E4D"/>
                  </a:solidFill>
                  <a:latin typeface="ITC Avant Garde Gothic"/>
                  <a:ea typeface="ITC Avant Garde Gothic"/>
                  <a:cs typeface="ITC Avant Garde Gothic"/>
                  <a:sym typeface="ITC Avant Garde Gothic"/>
                </a:rPr>
                <a:t>Key </a:t>
              </a:r>
              <a:r>
                <a:rPr lang="en-US" sz="3199" spc="-95" strike="noStrike" u="none">
                  <a:solidFill>
                    <a:srgbClr val="0A2E4D"/>
                  </a:solidFill>
                  <a:latin typeface="ITC Avant Garde Gothic"/>
                  <a:ea typeface="ITC Avant Garde Gothic"/>
                  <a:cs typeface="ITC Avant Garde Gothic"/>
                  <a:sym typeface="ITC Avant Garde Gothic"/>
                </a:rPr>
                <a:t>f</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a</a:t>
              </a:r>
              <a:r>
                <a:rPr lang="en-US" sz="3199" spc="-95" strike="noStrike" u="none">
                  <a:solidFill>
                    <a:srgbClr val="0A2E4D"/>
                  </a:solidFill>
                  <a:latin typeface="ITC Avant Garde Gothic"/>
                  <a:ea typeface="ITC Avant Garde Gothic"/>
                  <a:cs typeface="ITC Avant Garde Gothic"/>
                  <a:sym typeface="ITC Avant Garde Gothic"/>
                </a:rPr>
                <a:t>t</a:t>
              </a:r>
              <a:r>
                <a:rPr lang="en-US" sz="3199" spc="-95" strike="noStrike" u="none">
                  <a:solidFill>
                    <a:srgbClr val="0A2E4D"/>
                  </a:solidFill>
                  <a:latin typeface="ITC Avant Garde Gothic"/>
                  <a:ea typeface="ITC Avant Garde Gothic"/>
                  <a:cs typeface="ITC Avant Garde Gothic"/>
                  <a:sym typeface="ITC Avant Garde Gothic"/>
                </a:rPr>
                <a:t>ure</a:t>
              </a:r>
              <a:r>
                <a:rPr lang="en-US" sz="3199" spc="-95" strike="noStrike" u="none">
                  <a:solidFill>
                    <a:srgbClr val="0A2E4D"/>
                  </a:solidFill>
                  <a:latin typeface="ITC Avant Garde Gothic"/>
                  <a:ea typeface="ITC Avant Garde Gothic"/>
                  <a:cs typeface="ITC Avant Garde Gothic"/>
                  <a:sym typeface="ITC Avant Garde Gothic"/>
                </a:rPr>
                <a:t>s </a:t>
              </a:r>
              <a:r>
                <a:rPr lang="en-US" sz="3199" spc="-95" strike="noStrike" u="none">
                  <a:solidFill>
                    <a:srgbClr val="0A2E4D"/>
                  </a:solidFill>
                  <a:latin typeface="ITC Avant Garde Gothic"/>
                  <a:ea typeface="ITC Avant Garde Gothic"/>
                  <a:cs typeface="ITC Avant Garde Gothic"/>
                  <a:sym typeface="ITC Avant Garde Gothic"/>
                </a:rPr>
                <a:t>enabling the</a:t>
              </a:r>
              <a:r>
                <a:rPr lang="en-US" sz="3199" spc="-95" strike="noStrike" u="none">
                  <a:solidFill>
                    <a:srgbClr val="0A2E4D"/>
                  </a:solidFill>
                  <a:latin typeface="ITC Avant Garde Gothic"/>
                  <a:ea typeface="ITC Avant Garde Gothic"/>
                  <a:cs typeface="ITC Avant Garde Gothic"/>
                  <a:sym typeface="ITC Avant Garde Gothic"/>
                </a:rPr>
                <a:t> </a:t>
              </a:r>
              <a:r>
                <a:rPr lang="en-US" sz="3199" spc="-95" strike="noStrike" u="none">
                  <a:solidFill>
                    <a:srgbClr val="0A2E4D"/>
                  </a:solidFill>
                  <a:latin typeface="ITC Avant Garde Gothic"/>
                  <a:ea typeface="ITC Avant Garde Gothic"/>
                  <a:cs typeface="ITC Avant Garde Gothic"/>
                  <a:sym typeface="ITC Avant Garde Gothic"/>
                </a:rPr>
                <a:t>l</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ag</a:t>
              </a:r>
              <a:r>
                <a:rPr lang="en-US" sz="3199" spc="-95" strike="noStrike" u="none">
                  <a:solidFill>
                    <a:srgbClr val="0A2E4D"/>
                  </a:solidFill>
                  <a:latin typeface="ITC Avant Garde Gothic"/>
                  <a:ea typeface="ITC Avant Garde Gothic"/>
                  <a:cs typeface="ITC Avant Garde Gothic"/>
                  <a:sym typeface="ITC Avant Garde Gothic"/>
                </a:rPr>
                <a:t>u</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 simulation</a:t>
              </a:r>
            </a:p>
          </p:txBody>
        </p:sp>
        <p:sp>
          <p:nvSpPr>
            <p:cNvPr name="TextBox 7" id="7"/>
            <p:cNvSpPr txBox="true"/>
            <p:nvPr/>
          </p:nvSpPr>
          <p:spPr>
            <a:xfrm rot="0">
              <a:off x="0" y="6324340"/>
              <a:ext cx="9182100" cy="293878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A2E4D"/>
                  </a:solidFill>
                  <a:latin typeface="TT Fors"/>
                  <a:ea typeface="TT Fors"/>
                  <a:cs typeface="TT Fors"/>
                  <a:sym typeface="TT Fors"/>
                </a:rPr>
                <a:t>This diagram illustrates the </a:t>
              </a:r>
              <a:r>
                <a:rPr lang="en-US" sz="2100" strike="noStrike" u="none">
                  <a:solidFill>
                    <a:srgbClr val="0A2E4D"/>
                  </a:solidFill>
                  <a:latin typeface="TT Fors"/>
                  <a:ea typeface="TT Fors"/>
                  <a:cs typeface="TT Fors"/>
                  <a:sym typeface="TT Fors"/>
                </a:rPr>
                <a:t>cor</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fu</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c</a:t>
              </a:r>
              <a:r>
                <a:rPr lang="en-US" sz="2100" strike="noStrike" u="none">
                  <a:solidFill>
                    <a:srgbClr val="0A2E4D"/>
                  </a:solidFill>
                  <a:latin typeface="TT Fors"/>
                  <a:ea typeface="TT Fors"/>
                  <a:cs typeface="TT Fors"/>
                  <a:sym typeface="TT Fors"/>
                </a:rPr>
                <a:t>ti</a:t>
              </a:r>
              <a:r>
                <a:rPr lang="en-US" sz="2100" strike="noStrike" u="none">
                  <a:solidFill>
                    <a:srgbClr val="0A2E4D"/>
                  </a:solidFill>
                  <a:latin typeface="TT Fors"/>
                  <a:ea typeface="TT Fors"/>
                  <a:cs typeface="TT Fors"/>
                  <a:sym typeface="TT Fors"/>
                </a:rPr>
                <a:t>on</a:t>
              </a:r>
              <a:r>
                <a:rPr lang="en-US" sz="2100" strike="noStrike" u="none">
                  <a:solidFill>
                    <a:srgbClr val="0A2E4D"/>
                  </a:solidFill>
                  <a:latin typeface="TT Fors"/>
                  <a:ea typeface="TT Fors"/>
                  <a:cs typeface="TT Fors"/>
                  <a:sym typeface="TT Fors"/>
                </a:rPr>
                <a:t>al </a:t>
              </a:r>
              <a:r>
                <a:rPr lang="en-US" sz="2100" strike="noStrike" u="none">
                  <a:solidFill>
                    <a:srgbClr val="0A2E4D"/>
                  </a:solidFill>
                  <a:latin typeface="TT Fors"/>
                  <a:ea typeface="TT Fors"/>
                  <a:cs typeface="TT Fors"/>
                  <a:sym typeface="TT Fors"/>
                </a:rPr>
                <a:t>requirements</a:t>
              </a:r>
              <a:r>
                <a:rPr lang="en-US" sz="2100" strike="noStrike" u="none">
                  <a:solidFill>
                    <a:srgbClr val="0A2E4D"/>
                  </a:solidFill>
                  <a:latin typeface="TT Fors"/>
                  <a:ea typeface="TT Fors"/>
                  <a:cs typeface="TT Fors"/>
                  <a:sym typeface="TT Fors"/>
                </a:rPr>
                <a:t> o</a:t>
              </a:r>
              <a:r>
                <a:rPr lang="en-US" sz="2100" strike="noStrike" u="none">
                  <a:solidFill>
                    <a:srgbClr val="0A2E4D"/>
                  </a:solidFill>
                  <a:latin typeface="TT Fors"/>
                  <a:ea typeface="TT Fors"/>
                  <a:cs typeface="TT Fors"/>
                  <a:sym typeface="TT Fors"/>
                </a:rPr>
                <a:t>f</a:t>
              </a:r>
              <a:r>
                <a:rPr lang="en-US" sz="2100" strike="noStrike" u="none">
                  <a:solidFill>
                    <a:srgbClr val="0A2E4D"/>
                  </a:solidFill>
                  <a:latin typeface="TT Fors"/>
                  <a:ea typeface="TT Fors"/>
                  <a:cs typeface="TT Fors"/>
                  <a:sym typeface="TT Fors"/>
                </a:rPr>
                <a:t> the Egyptian Football League Simulator, i</a:t>
              </a:r>
              <a:r>
                <a:rPr lang="en-US" sz="2100" strike="noStrike" u="none">
                  <a:solidFill>
                    <a:srgbClr val="0A2E4D"/>
                  </a:solidFill>
                  <a:latin typeface="TT Fors"/>
                  <a:ea typeface="TT Fors"/>
                  <a:cs typeface="TT Fors"/>
                  <a:sym typeface="TT Fors"/>
                </a:rPr>
                <a:t>nc</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ud</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g</a:t>
              </a:r>
              <a:r>
                <a:rPr lang="en-US" sz="2100" strike="noStrike" u="none">
                  <a:solidFill>
                    <a:srgbClr val="0A2E4D"/>
                  </a:solidFill>
                  <a:latin typeface="TT Fors"/>
                  <a:ea typeface="TT Fors"/>
                  <a:cs typeface="TT Fors"/>
                  <a:sym typeface="TT Fors"/>
                </a:rPr>
                <a:t> matc</a:t>
              </a:r>
              <a:r>
                <a:rPr lang="en-US" sz="2100" strike="noStrike" u="none">
                  <a:solidFill>
                    <a:srgbClr val="0A2E4D"/>
                  </a:solidFill>
                  <a:latin typeface="TT Fors"/>
                  <a:ea typeface="TT Fors"/>
                  <a:cs typeface="TT Fors"/>
                  <a:sym typeface="TT Fors"/>
                </a:rPr>
                <a:t>h</a:t>
              </a:r>
              <a:r>
                <a:rPr lang="en-US" sz="2100" strike="noStrike" u="none">
                  <a:solidFill>
                    <a:srgbClr val="0A2E4D"/>
                  </a:solidFill>
                  <a:latin typeface="TT Fors"/>
                  <a:ea typeface="TT Fors"/>
                  <a:cs typeface="TT Fors"/>
                  <a:sym typeface="TT Fors"/>
                </a:rPr>
                <a:t> schedul</a:t>
              </a:r>
              <a:r>
                <a:rPr lang="en-US" sz="2100" strike="noStrike" u="none">
                  <a:solidFill>
                    <a:srgbClr val="0A2E4D"/>
                  </a:solidFill>
                  <a:latin typeface="TT Fors"/>
                  <a:ea typeface="TT Fors"/>
                  <a:cs typeface="TT Fors"/>
                  <a:sym typeface="TT Fors"/>
                </a:rPr>
                <a:t>ing </a:t>
              </a:r>
              <a:r>
                <a:rPr lang="en-US" sz="2100" strike="noStrike" u="none">
                  <a:solidFill>
                    <a:srgbClr val="0A2E4D"/>
                  </a:solidFill>
                  <a:latin typeface="TT Fors"/>
                  <a:ea typeface="TT Fors"/>
                  <a:cs typeface="TT Fors"/>
                  <a:sym typeface="TT Fors"/>
                </a:rPr>
                <a:t>logic, re</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ul</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gener</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tion</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st</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d</a:t>
              </a:r>
              <a:r>
                <a:rPr lang="en-US" sz="2100" strike="noStrike" u="none">
                  <a:solidFill>
                    <a:srgbClr val="0A2E4D"/>
                  </a:solidFill>
                  <a:latin typeface="TT Fors"/>
                  <a:ea typeface="TT Fors"/>
                  <a:cs typeface="TT Fors"/>
                  <a:sym typeface="TT Fors"/>
                </a:rPr>
                <a:t>ings c</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lculation</a:t>
              </a:r>
              <a:r>
                <a:rPr lang="en-US" sz="2100" strike="noStrike" u="none">
                  <a:solidFill>
                    <a:srgbClr val="0A2E4D"/>
                  </a:solidFill>
                  <a:latin typeface="TT Fors"/>
                  <a:ea typeface="TT Fors"/>
                  <a:cs typeface="TT Fors"/>
                  <a:sym typeface="TT Fors"/>
                </a:rPr>
                <a:t>, and </a:t>
              </a:r>
              <a:r>
                <a:rPr lang="en-US" sz="2100" strike="noStrike" u="none">
                  <a:solidFill>
                    <a:srgbClr val="0A2E4D"/>
                  </a:solidFill>
                  <a:latin typeface="TT Fors"/>
                  <a:ea typeface="TT Fors"/>
                  <a:cs typeface="TT Fors"/>
                  <a:sym typeface="TT Fors"/>
                </a:rPr>
                <a:t>th</a:t>
              </a:r>
              <a:r>
                <a:rPr lang="en-US" sz="2100" strike="noStrike" u="none">
                  <a:solidFill>
                    <a:srgbClr val="0A2E4D"/>
                  </a:solidFill>
                  <a:latin typeface="TT Fors"/>
                  <a:ea typeface="TT Fors"/>
                  <a:cs typeface="TT Fors"/>
                  <a:sym typeface="TT Fors"/>
                </a:rPr>
                <a:t>e interacti</a:t>
              </a:r>
              <a:r>
                <a:rPr lang="en-US" sz="2100" strike="noStrike" u="none">
                  <a:solidFill>
                    <a:srgbClr val="0A2E4D"/>
                  </a:solidFill>
                  <a:latin typeface="TT Fors"/>
                  <a:ea typeface="TT Fors"/>
                  <a:cs typeface="TT Fors"/>
                  <a:sym typeface="TT Fors"/>
                </a:rPr>
                <a:t>ve</a:t>
              </a:r>
              <a:r>
                <a:rPr lang="en-US" sz="2100" strike="noStrike" u="none">
                  <a:solidFill>
                    <a:srgbClr val="0A2E4D"/>
                  </a:solidFill>
                  <a:latin typeface="TT Fors"/>
                  <a:ea typeface="TT Fors"/>
                  <a:cs typeface="TT Fors"/>
                  <a:sym typeface="TT Fors"/>
                </a:rPr>
                <a:t> m</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ni</a:t>
              </a:r>
              <a:r>
                <a:rPr lang="en-US" sz="2100" strike="noStrike" u="none">
                  <a:solidFill>
                    <a:srgbClr val="0A2E4D"/>
                  </a:solidFill>
                  <a:latin typeface="TT Fors"/>
                  <a:ea typeface="TT Fors"/>
                  <a:cs typeface="TT Fors"/>
                  <a:sym typeface="TT Fors"/>
                </a:rPr>
                <a:t>-g</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me</a:t>
              </a:r>
              <a:r>
                <a:rPr lang="en-US" sz="2100" strike="noStrike" u="none">
                  <a:solidFill>
                    <a:srgbClr val="0A2E4D"/>
                  </a:solidFill>
                  <a:latin typeface="TT Fors"/>
                  <a:ea typeface="TT Fors"/>
                  <a:cs typeface="TT Fors"/>
                  <a:sym typeface="TT Fors"/>
                </a:rPr>
                <a:t> f</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w.</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h</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gh</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ights</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how </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ach featu</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e c</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nt</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ibutes to delivering </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 dy</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ami</a:t>
              </a:r>
              <a:r>
                <a:rPr lang="en-US" sz="2100" strike="noStrike" u="none">
                  <a:solidFill>
                    <a:srgbClr val="0A2E4D"/>
                  </a:solidFill>
                  <a:latin typeface="TT Fors"/>
                  <a:ea typeface="TT Fors"/>
                  <a:cs typeface="TT Fors"/>
                  <a:sym typeface="TT Fors"/>
                </a:rPr>
                <a:t>c and engag</a:t>
              </a:r>
              <a:r>
                <a:rPr lang="en-US" sz="2100" strike="noStrike" u="none">
                  <a:solidFill>
                    <a:srgbClr val="0A2E4D"/>
                  </a:solidFill>
                  <a:latin typeface="TT Fors"/>
                  <a:ea typeface="TT Fors"/>
                  <a:cs typeface="TT Fors"/>
                  <a:sym typeface="TT Fors"/>
                </a:rPr>
                <a:t>ing us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 experi</a:t>
              </a:r>
              <a:r>
                <a:rPr lang="en-US" sz="2100" strike="noStrike" u="none">
                  <a:solidFill>
                    <a:srgbClr val="0A2E4D"/>
                  </a:solidFill>
                  <a:latin typeface="TT Fors"/>
                  <a:ea typeface="TT Fors"/>
                  <a:cs typeface="TT Fors"/>
                  <a:sym typeface="TT Fors"/>
                </a:rPr>
                <a:t>en</a:t>
              </a:r>
              <a:r>
                <a:rPr lang="en-US" sz="2100" strike="noStrike" u="none">
                  <a:solidFill>
                    <a:srgbClr val="0A2E4D"/>
                  </a:solidFill>
                  <a:latin typeface="TT Fors"/>
                  <a:ea typeface="TT Fors"/>
                  <a:cs typeface="TT Fors"/>
                  <a:sym typeface="TT Fors"/>
                </a:rPr>
                <a:t>ce</a:t>
              </a:r>
              <a:r>
                <a:rPr lang="en-US" sz="2100" strike="noStrike" u="none">
                  <a:solidFill>
                    <a:srgbClr val="0A2E4D"/>
                  </a:solidFill>
                  <a:latin typeface="TT Fors"/>
                  <a:ea typeface="TT Fors"/>
                  <a:cs typeface="TT Fors"/>
                  <a:sym typeface="TT Fors"/>
                </a:rPr>
                <a: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2093" t="0" r="-2093" b="0"/>
              </a:stretch>
            </a:blipFill>
          </p:spPr>
        </p:sp>
      </p:grpSp>
      <p:grpSp>
        <p:nvGrpSpPr>
          <p:cNvPr name="Group 4" id="4"/>
          <p:cNvGrpSpPr/>
          <p:nvPr/>
        </p:nvGrpSpPr>
        <p:grpSpPr>
          <a:xfrm rot="0">
            <a:off x="666750" y="666750"/>
            <a:ext cx="8324850" cy="7804590"/>
            <a:chOff x="0" y="0"/>
            <a:chExt cx="11099800" cy="10406120"/>
          </a:xfrm>
        </p:grpSpPr>
        <p:sp>
          <p:nvSpPr>
            <p:cNvPr name="TextBox 5" id="5"/>
            <p:cNvSpPr txBox="true"/>
            <p:nvPr/>
          </p:nvSpPr>
          <p:spPr>
            <a:xfrm rot="0">
              <a:off x="0" y="-9525"/>
              <a:ext cx="11099800" cy="4319059"/>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0A2E4D"/>
                  </a:solidFill>
                  <a:latin typeface="ITC Avant Garde Gothic"/>
                  <a:ea typeface="ITC Avant Garde Gothic"/>
                  <a:cs typeface="ITC Avant Garde Gothic"/>
                  <a:sym typeface="ITC Avant Garde Gothic"/>
                </a:rPr>
                <a:t>Non-Func</a:t>
              </a:r>
              <a:r>
                <a:rPr lang="en-US" sz="8000" spc="-240" strike="noStrike" u="none">
                  <a:solidFill>
                    <a:srgbClr val="0A2E4D"/>
                  </a:solidFill>
                  <a:latin typeface="ITC Avant Garde Gothic"/>
                  <a:ea typeface="ITC Avant Garde Gothic"/>
                  <a:cs typeface="ITC Avant Garde Gothic"/>
                  <a:sym typeface="ITC Avant Garde Gothic"/>
                </a:rPr>
                <a:t>tional Requirements Overview</a:t>
              </a:r>
            </a:p>
          </p:txBody>
        </p:sp>
        <p:sp>
          <p:nvSpPr>
            <p:cNvPr name="TextBox 6" id="6"/>
            <p:cNvSpPr txBox="true"/>
            <p:nvPr/>
          </p:nvSpPr>
          <p:spPr>
            <a:xfrm rot="0">
              <a:off x="0" y="4555865"/>
              <a:ext cx="11099800" cy="1362075"/>
            </a:xfrm>
            <a:prstGeom prst="rect">
              <a:avLst/>
            </a:prstGeom>
          </p:spPr>
          <p:txBody>
            <a:bodyPr anchor="t" rtlCol="false" tIns="0" lIns="0" bIns="0" rIns="0">
              <a:spAutoFit/>
            </a:bodyPr>
            <a:lstStyle/>
            <a:p>
              <a:pPr algn="l" marL="0" indent="0" lvl="0">
                <a:lnSpc>
                  <a:spcPts val="3839"/>
                </a:lnSpc>
                <a:spcBef>
                  <a:spcPct val="0"/>
                </a:spcBef>
              </a:pPr>
              <a:r>
                <a:rPr lang="en-US" sz="3199" spc="-95">
                  <a:solidFill>
                    <a:srgbClr val="0A2E4D"/>
                  </a:solidFill>
                  <a:latin typeface="ITC Avant Garde Gothic"/>
                  <a:ea typeface="ITC Avant Garde Gothic"/>
                  <a:cs typeface="ITC Avant Garde Gothic"/>
                  <a:sym typeface="ITC Avant Garde Gothic"/>
                </a:rPr>
                <a:t>Qualit</a:t>
              </a:r>
              <a:r>
                <a:rPr lang="en-US" sz="3199" spc="-95" strike="noStrike" u="none">
                  <a:solidFill>
                    <a:srgbClr val="0A2E4D"/>
                  </a:solidFill>
                  <a:latin typeface="ITC Avant Garde Gothic"/>
                  <a:ea typeface="ITC Avant Garde Gothic"/>
                  <a:cs typeface="ITC Avant Garde Gothic"/>
                  <a:sym typeface="ITC Avant Garde Gothic"/>
                </a:rPr>
                <a:t>y attribu</a:t>
              </a:r>
              <a:r>
                <a:rPr lang="en-US" sz="3199" spc="-95" strike="noStrike" u="none">
                  <a:solidFill>
                    <a:srgbClr val="0A2E4D"/>
                  </a:solidFill>
                  <a:latin typeface="ITC Avant Garde Gothic"/>
                  <a:ea typeface="ITC Avant Garde Gothic"/>
                  <a:cs typeface="ITC Avant Garde Gothic"/>
                  <a:sym typeface="ITC Avant Garde Gothic"/>
                </a:rPr>
                <a:t>t</a:t>
              </a:r>
              <a:r>
                <a:rPr lang="en-US" sz="3199" spc="-95" strike="noStrike" u="none">
                  <a:solidFill>
                    <a:srgbClr val="0A2E4D"/>
                  </a:solidFill>
                  <a:latin typeface="ITC Avant Garde Gothic"/>
                  <a:ea typeface="ITC Avant Garde Gothic"/>
                  <a:cs typeface="ITC Avant Garde Gothic"/>
                  <a:sym typeface="ITC Avant Garde Gothic"/>
                </a:rPr>
                <a:t>es en</a:t>
              </a:r>
              <a:r>
                <a:rPr lang="en-US" sz="3199" spc="-95" strike="noStrike" u="none">
                  <a:solidFill>
                    <a:srgbClr val="0A2E4D"/>
                  </a:solidFill>
                  <a:latin typeface="ITC Avant Garde Gothic"/>
                  <a:ea typeface="ITC Avant Garde Gothic"/>
                  <a:cs typeface="ITC Avant Garde Gothic"/>
                  <a:sym typeface="ITC Avant Garde Gothic"/>
                </a:rPr>
                <a:t>sur</a:t>
              </a:r>
              <a:r>
                <a:rPr lang="en-US" sz="3199" spc="-95" strike="noStrike" u="none">
                  <a:solidFill>
                    <a:srgbClr val="0A2E4D"/>
                  </a:solidFill>
                  <a:latin typeface="ITC Avant Garde Gothic"/>
                  <a:ea typeface="ITC Avant Garde Gothic"/>
                  <a:cs typeface="ITC Avant Garde Gothic"/>
                  <a:sym typeface="ITC Avant Garde Gothic"/>
                </a:rPr>
                <a:t>ing </a:t>
              </a:r>
              <a:r>
                <a:rPr lang="en-US" sz="3199" spc="-95" strike="noStrike" u="none">
                  <a:solidFill>
                    <a:srgbClr val="0A2E4D"/>
                  </a:solidFill>
                  <a:latin typeface="ITC Avant Garde Gothic"/>
                  <a:ea typeface="ITC Avant Garde Gothic"/>
                  <a:cs typeface="ITC Avant Garde Gothic"/>
                  <a:sym typeface="ITC Avant Garde Gothic"/>
                </a:rPr>
                <a:t>smoo</a:t>
              </a:r>
              <a:r>
                <a:rPr lang="en-US" sz="3199" spc="-95" strike="noStrike" u="none">
                  <a:solidFill>
                    <a:srgbClr val="0A2E4D"/>
                  </a:solidFill>
                  <a:latin typeface="ITC Avant Garde Gothic"/>
                  <a:ea typeface="ITC Avant Garde Gothic"/>
                  <a:cs typeface="ITC Avant Garde Gothic"/>
                  <a:sym typeface="ITC Avant Garde Gothic"/>
                </a:rPr>
                <a:t>th system pe</a:t>
              </a:r>
              <a:r>
                <a:rPr lang="en-US" sz="3199" spc="-95" strike="noStrike" u="none">
                  <a:solidFill>
                    <a:srgbClr val="0A2E4D"/>
                  </a:solidFill>
                  <a:latin typeface="ITC Avant Garde Gothic"/>
                  <a:ea typeface="ITC Avant Garde Gothic"/>
                  <a:cs typeface="ITC Avant Garde Gothic"/>
                  <a:sym typeface="ITC Avant Garde Gothic"/>
                </a:rPr>
                <a:t>rfor</a:t>
              </a:r>
              <a:r>
                <a:rPr lang="en-US" sz="3199" spc="-95" strike="noStrike" u="none">
                  <a:solidFill>
                    <a:srgbClr val="0A2E4D"/>
                  </a:solidFill>
                  <a:latin typeface="ITC Avant Garde Gothic"/>
                  <a:ea typeface="ITC Avant Garde Gothic"/>
                  <a:cs typeface="ITC Avant Garde Gothic"/>
                  <a:sym typeface="ITC Avant Garde Gothic"/>
                </a:rPr>
                <a:t>mance</a:t>
              </a:r>
            </a:p>
          </p:txBody>
        </p:sp>
        <p:sp>
          <p:nvSpPr>
            <p:cNvPr name="TextBox 7" id="7"/>
            <p:cNvSpPr txBox="true"/>
            <p:nvPr/>
          </p:nvSpPr>
          <p:spPr>
            <a:xfrm rot="0">
              <a:off x="0" y="6972040"/>
              <a:ext cx="9182100" cy="343408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A2E4D"/>
                  </a:solidFill>
                  <a:latin typeface="TT Fors"/>
                  <a:ea typeface="TT Fors"/>
                  <a:cs typeface="TT Fors"/>
                  <a:sym typeface="TT Fors"/>
                </a:rPr>
                <a:t>This diagram outlines the key </a:t>
              </a:r>
              <a:r>
                <a:rPr lang="en-US" sz="2100" strike="noStrike" u="none">
                  <a:solidFill>
                    <a:srgbClr val="0A2E4D"/>
                  </a:solidFill>
                  <a:latin typeface="TT Fors"/>
                  <a:ea typeface="TT Fors"/>
                  <a:cs typeface="TT Fors"/>
                  <a:sym typeface="TT Fors"/>
                </a:rPr>
                <a:t>non-</a:t>
              </a:r>
              <a:r>
                <a:rPr lang="en-US" sz="2100" strike="noStrike" u="none">
                  <a:solidFill>
                    <a:srgbClr val="0A2E4D"/>
                  </a:solidFill>
                  <a:latin typeface="TT Fors"/>
                  <a:ea typeface="TT Fors"/>
                  <a:cs typeface="TT Fors"/>
                  <a:sym typeface="TT Fors"/>
                </a:rPr>
                <a:t>functional requirements of the Egyptian Football League Simulator, c</a:t>
              </a:r>
              <a:r>
                <a:rPr lang="en-US" sz="2100" strike="noStrike" u="none">
                  <a:solidFill>
                    <a:srgbClr val="0A2E4D"/>
                  </a:solidFill>
                  <a:latin typeface="TT Fors"/>
                  <a:ea typeface="TT Fors"/>
                  <a:cs typeface="TT Fors"/>
                  <a:sym typeface="TT Fors"/>
                </a:rPr>
                <a:t>over</a:t>
              </a:r>
              <a:r>
                <a:rPr lang="en-US" sz="2100" strike="noStrike" u="none">
                  <a:solidFill>
                    <a:srgbClr val="0A2E4D"/>
                  </a:solidFill>
                  <a:latin typeface="TT Fors"/>
                  <a:ea typeface="TT Fors"/>
                  <a:cs typeface="TT Fors"/>
                  <a:sym typeface="TT Fors"/>
                </a:rPr>
                <a:t>ing </a:t>
              </a:r>
              <a:r>
                <a:rPr lang="en-US" sz="2100" strike="noStrike" u="none">
                  <a:solidFill>
                    <a:srgbClr val="0A2E4D"/>
                  </a:solidFill>
                  <a:latin typeface="TT Fors"/>
                  <a:ea typeface="TT Fors"/>
                  <a:cs typeface="TT Fors"/>
                  <a:sym typeface="TT Fors"/>
                </a:rPr>
                <a:t>perfor</a:t>
              </a:r>
              <a:r>
                <a:rPr lang="en-US" sz="2100" strike="noStrike" u="none">
                  <a:solidFill>
                    <a:srgbClr val="0A2E4D"/>
                  </a:solidFill>
                  <a:latin typeface="TT Fors"/>
                  <a:ea typeface="TT Fors"/>
                  <a:cs typeface="TT Fors"/>
                  <a:sym typeface="TT Fors"/>
                </a:rPr>
                <a:t>ma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c</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eliabili</a:t>
              </a:r>
              <a:r>
                <a:rPr lang="en-US" sz="2100" strike="noStrike" u="none">
                  <a:solidFill>
                    <a:srgbClr val="0A2E4D"/>
                  </a:solidFill>
                  <a:latin typeface="TT Fors"/>
                  <a:ea typeface="TT Fors"/>
                  <a:cs typeface="TT Fors"/>
                  <a:sym typeface="TT Fors"/>
                </a:rPr>
                <a:t>ty</a:t>
              </a:r>
              <a:r>
                <a:rPr lang="en-US" sz="2100" strike="noStrike" u="none">
                  <a:solidFill>
                    <a:srgbClr val="0A2E4D"/>
                  </a:solidFill>
                  <a:latin typeface="TT Fors"/>
                  <a:ea typeface="TT Fors"/>
                  <a:cs typeface="TT Fors"/>
                  <a:sym typeface="TT Fors"/>
                </a:rPr>
                <a:t>, u</a:t>
              </a:r>
              <a:r>
                <a:rPr lang="en-US" sz="2100" strike="noStrike" u="none">
                  <a:solidFill>
                    <a:srgbClr val="0A2E4D"/>
                  </a:solidFill>
                  <a:latin typeface="TT Fors"/>
                  <a:ea typeface="TT Fors"/>
                  <a:cs typeface="TT Fors"/>
                  <a:sym typeface="TT Fors"/>
                </a:rPr>
                <a:t>sabi</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ty, </a:t>
              </a:r>
              <a:r>
                <a:rPr lang="en-US" sz="2100" strike="noStrike" u="none">
                  <a:solidFill>
                    <a:srgbClr val="0A2E4D"/>
                  </a:solidFill>
                  <a:latin typeface="TT Fors"/>
                  <a:ea typeface="TT Fors"/>
                  <a:cs typeface="TT Fors"/>
                  <a:sym typeface="TT Fors"/>
                </a:rPr>
                <a:t>scal</a:t>
              </a:r>
              <a:r>
                <a:rPr lang="en-US" sz="2100" strike="noStrike" u="none">
                  <a:solidFill>
                    <a:srgbClr val="0A2E4D"/>
                  </a:solidFill>
                  <a:latin typeface="TT Fors"/>
                  <a:ea typeface="TT Fors"/>
                  <a:cs typeface="TT Fors"/>
                  <a:sym typeface="TT Fors"/>
                </a:rPr>
                <a:t>abi</a:t>
              </a:r>
              <a:r>
                <a:rPr lang="en-US" sz="2100" strike="noStrike" u="none">
                  <a:solidFill>
                    <a:srgbClr val="0A2E4D"/>
                  </a:solidFill>
                  <a:latin typeface="TT Fors"/>
                  <a:ea typeface="TT Fors"/>
                  <a:cs typeface="TT Fors"/>
                  <a:sym typeface="TT Fors"/>
                </a:rPr>
                <a:t>lity</a:t>
              </a:r>
              <a:r>
                <a:rPr lang="en-US" sz="2100" strike="noStrike" u="none">
                  <a:solidFill>
                    <a:srgbClr val="0A2E4D"/>
                  </a:solidFill>
                  <a:latin typeface="TT Fors"/>
                  <a:ea typeface="TT Fors"/>
                  <a:cs typeface="TT Fors"/>
                  <a:sym typeface="TT Fors"/>
                </a:rPr>
                <a:t>, and 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cu</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ty</a:t>
              </a:r>
              <a:r>
                <a:rPr lang="en-US" sz="2100" strike="noStrike" u="none">
                  <a:solidFill>
                    <a:srgbClr val="0A2E4D"/>
                  </a:solidFill>
                  <a:latin typeface="TT Fors"/>
                  <a:ea typeface="TT Fors"/>
                  <a:cs typeface="TT Fors"/>
                  <a:sym typeface="TT Fors"/>
                </a:rPr>
                <a:t> standards. These attribute</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 ensure the pl</a:t>
              </a:r>
              <a:r>
                <a:rPr lang="en-US" sz="2100" strike="noStrike" u="none">
                  <a:solidFill>
                    <a:srgbClr val="0A2E4D"/>
                  </a:solidFill>
                  <a:latin typeface="TT Fors"/>
                  <a:ea typeface="TT Fors"/>
                  <a:cs typeface="TT Fors"/>
                  <a:sym typeface="TT Fors"/>
                </a:rPr>
                <a:t>atf</a:t>
              </a:r>
              <a:r>
                <a:rPr lang="en-US" sz="2100" strike="noStrike" u="none">
                  <a:solidFill>
                    <a:srgbClr val="0A2E4D"/>
                  </a:solidFill>
                  <a:latin typeface="TT Fors"/>
                  <a:ea typeface="TT Fors"/>
                  <a:cs typeface="TT Fors"/>
                  <a:sym typeface="TT Fors"/>
                </a:rPr>
                <a:t>orm runs </a:t>
              </a:r>
              <a:r>
                <a:rPr lang="en-US" sz="2100" strike="noStrike" u="none">
                  <a:solidFill>
                    <a:srgbClr val="0A2E4D"/>
                  </a:solidFill>
                  <a:latin typeface="TT Fors"/>
                  <a:ea typeface="TT Fors"/>
                  <a:cs typeface="TT Fors"/>
                  <a:sym typeface="TT Fors"/>
                </a:rPr>
                <a:t>eff</a:t>
              </a:r>
              <a:r>
                <a:rPr lang="en-US" sz="2100" strike="noStrike" u="none">
                  <a:solidFill>
                    <a:srgbClr val="0A2E4D"/>
                  </a:solidFill>
                  <a:latin typeface="TT Fors"/>
                  <a:ea typeface="TT Fors"/>
                  <a:cs typeface="TT Fors"/>
                  <a:sym typeface="TT Fors"/>
                </a:rPr>
                <a:t>ici</a:t>
              </a:r>
              <a:r>
                <a:rPr lang="en-US" sz="2100" strike="noStrike" u="none">
                  <a:solidFill>
                    <a:srgbClr val="0A2E4D"/>
                  </a:solidFill>
                  <a:latin typeface="TT Fors"/>
                  <a:ea typeface="TT Fors"/>
                  <a:cs typeface="TT Fors"/>
                  <a:sym typeface="TT Fors"/>
                </a:rPr>
                <a:t>en</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ly,</a:t>
              </a:r>
              <a:r>
                <a:rPr lang="en-US" sz="2100" strike="noStrike" u="none">
                  <a:solidFill>
                    <a:srgbClr val="0A2E4D"/>
                  </a:solidFill>
                  <a:latin typeface="TT Fors"/>
                  <a:ea typeface="TT Fors"/>
                  <a:cs typeface="TT Fors"/>
                  <a:sym typeface="TT Fors"/>
                </a:rPr>
                <a:t> h</a:t>
              </a:r>
              <a:r>
                <a:rPr lang="en-US" sz="2100" strike="noStrike" u="none">
                  <a:solidFill>
                    <a:srgbClr val="0A2E4D"/>
                  </a:solidFill>
                  <a:latin typeface="TT Fors"/>
                  <a:ea typeface="TT Fors"/>
                  <a:cs typeface="TT Fors"/>
                  <a:sym typeface="TT Fors"/>
                </a:rPr>
                <a:t>andl</a:t>
              </a:r>
              <a:r>
                <a:rPr lang="en-US" sz="2100" strike="noStrike" u="none">
                  <a:solidFill>
                    <a:srgbClr val="0A2E4D"/>
                  </a:solidFill>
                  <a:latin typeface="TT Fors"/>
                  <a:ea typeface="TT Fors"/>
                  <a:cs typeface="TT Fors"/>
                  <a:sym typeface="TT Fors"/>
                </a:rPr>
                <a:t>es u</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nt</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racti</a:t>
              </a:r>
              <a:r>
                <a:rPr lang="en-US" sz="2100" strike="noStrike" u="none">
                  <a:solidFill>
                    <a:srgbClr val="0A2E4D"/>
                  </a:solidFill>
                  <a:latin typeface="TT Fors"/>
                  <a:ea typeface="TT Fors"/>
                  <a:cs typeface="TT Fors"/>
                  <a:sym typeface="TT Fors"/>
                </a:rPr>
                <a:t>on</a:t>
              </a:r>
              <a:r>
                <a:rPr lang="en-US" sz="2100" strike="noStrike" u="none">
                  <a:solidFill>
                    <a:srgbClr val="0A2E4D"/>
                  </a:solidFill>
                  <a:latin typeface="TT Fors"/>
                  <a:ea typeface="TT Fors"/>
                  <a:cs typeface="TT Fors"/>
                  <a:sym typeface="TT Fors"/>
                </a:rPr>
                <a:t>s </a:t>
              </a:r>
              <a:r>
                <a:rPr lang="en-US" sz="2100" strike="noStrike" u="none">
                  <a:solidFill>
                    <a:srgbClr val="0A2E4D"/>
                  </a:solidFill>
                  <a:latin typeface="TT Fors"/>
                  <a:ea typeface="TT Fors"/>
                  <a:cs typeface="TT Fors"/>
                  <a:sym typeface="TT Fors"/>
                </a:rPr>
                <a:t>sm</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oth</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y, 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d</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m</a:t>
              </a:r>
              <a:r>
                <a:rPr lang="en-US" sz="2100" strike="noStrike" u="none">
                  <a:solidFill>
                    <a:srgbClr val="0A2E4D"/>
                  </a:solidFill>
                  <a:latin typeface="TT Fors"/>
                  <a:ea typeface="TT Fors"/>
                  <a:cs typeface="TT Fors"/>
                  <a:sym typeface="TT Fors"/>
                </a:rPr>
                <a:t>aintai</a:t>
              </a:r>
              <a:r>
                <a:rPr lang="en-US" sz="2100" strike="noStrike" u="none">
                  <a:solidFill>
                    <a:srgbClr val="0A2E4D"/>
                  </a:solidFill>
                  <a:latin typeface="TT Fors"/>
                  <a:ea typeface="TT Fors"/>
                  <a:cs typeface="TT Fors"/>
                  <a:sym typeface="TT Fors"/>
                </a:rPr>
                <a:t>ns</a:t>
              </a:r>
              <a:r>
                <a:rPr lang="en-US" sz="2100" strike="noStrike" u="none">
                  <a:solidFill>
                    <a:srgbClr val="0A2E4D"/>
                  </a:solidFill>
                  <a:latin typeface="TT Fors"/>
                  <a:ea typeface="TT Fors"/>
                  <a:cs typeface="TT Fors"/>
                  <a:sym typeface="TT Fors"/>
                </a:rPr>
                <a:t> a consi</a:t>
              </a:r>
              <a:r>
                <a:rPr lang="en-US" sz="2100" strike="noStrike" u="none">
                  <a:solidFill>
                    <a:srgbClr val="0A2E4D"/>
                  </a:solidFill>
                  <a:latin typeface="TT Fors"/>
                  <a:ea typeface="TT Fors"/>
                  <a:cs typeface="TT Fors"/>
                  <a:sym typeface="TT Fors"/>
                </a:rPr>
                <a:t>ste</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secur</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experience</a:t>
              </a:r>
              <a:r>
                <a:rPr lang="en-US" sz="2100" strike="noStrike" u="none">
                  <a:solidFill>
                    <a:srgbClr val="0A2E4D"/>
                  </a:solidFill>
                  <a:latin typeface="TT Fors"/>
                  <a:ea typeface="TT Fors"/>
                  <a:cs typeface="TT Fors"/>
                  <a:sym typeface="TT Fors"/>
                </a:rPr>
                <a:t> across all features</a:t>
              </a:r>
              <a:r>
                <a:rPr lang="en-US" sz="2100" strike="noStrike" u="none">
                  <a:solidFill>
                    <a:srgbClr val="0A2E4D"/>
                  </a:solidFill>
                  <a:latin typeface="TT Fors"/>
                  <a:ea typeface="TT Fors"/>
                  <a:cs typeface="TT Fors"/>
                  <a:sym typeface="TT Fors"/>
                </a:rPr>
                <a: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378721" y="255357"/>
            <a:ext cx="18190981" cy="10232427"/>
          </a:xfrm>
          <a:custGeom>
            <a:avLst/>
            <a:gdLst/>
            <a:ahLst/>
            <a:cxnLst/>
            <a:rect r="r" b="b" t="t" l="l"/>
            <a:pathLst>
              <a:path h="10232427" w="18190981">
                <a:moveTo>
                  <a:pt x="0" y="0"/>
                </a:moveTo>
                <a:lnTo>
                  <a:pt x="18190981" y="0"/>
                </a:lnTo>
                <a:lnTo>
                  <a:pt x="18190981" y="10232427"/>
                </a:lnTo>
                <a:lnTo>
                  <a:pt x="0" y="10232427"/>
                </a:lnTo>
                <a:lnTo>
                  <a:pt x="0" y="0"/>
                </a:lnTo>
                <a:close/>
              </a:path>
            </a:pathLst>
          </a:custGeom>
          <a:blipFill>
            <a:blip r:embed="rId2"/>
            <a:stretch>
              <a:fillRect l="0" t="0" r="0" b="0"/>
            </a:stretch>
          </a:blipFill>
        </p:spPr>
      </p:sp>
      <p:sp>
        <p:nvSpPr>
          <p:cNvPr name="TextBox 3" id="3"/>
          <p:cNvSpPr txBox="true"/>
          <p:nvPr/>
        </p:nvSpPr>
        <p:spPr>
          <a:xfrm rot="0">
            <a:off x="666750" y="657225"/>
            <a:ext cx="9601165"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Use Case Overview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8134073"/>
            <a:chOff x="0" y="0"/>
            <a:chExt cx="22499630" cy="10845431"/>
          </a:xfrm>
        </p:grpSpPr>
        <p:sp>
          <p:nvSpPr>
            <p:cNvPr name="TextBox 3" id="3"/>
            <p:cNvSpPr txBox="true"/>
            <p:nvPr/>
          </p:nvSpPr>
          <p:spPr>
            <a:xfrm rot="0">
              <a:off x="0" y="0"/>
              <a:ext cx="19682454" cy="3905250"/>
            </a:xfrm>
            <a:prstGeom prst="rect">
              <a:avLst/>
            </a:prstGeom>
          </p:spPr>
          <p:txBody>
            <a:bodyPr anchor="t" rtlCol="false" tIns="0" lIns="0" bIns="0" rIns="0">
              <a:spAutoFit/>
            </a:bodyPr>
            <a:lstStyle/>
            <a:p>
              <a:pPr algn="l" marL="0" indent="0" lvl="0">
                <a:lnSpc>
                  <a:spcPts val="10542"/>
                </a:lnSpc>
                <a:spcBef>
                  <a:spcPct val="0"/>
                </a:spcBef>
              </a:pPr>
              <a:r>
                <a:rPr lang="en-US" sz="10542" spc="-316">
                  <a:solidFill>
                    <a:srgbClr val="0A2E4D"/>
                  </a:solidFill>
                  <a:latin typeface="ITC Avant Garde Gothic"/>
                  <a:ea typeface="ITC Avant Garde Gothic"/>
                  <a:cs typeface="ITC Avant Garde Gothic"/>
                  <a:sym typeface="ITC Avant Garde Gothic"/>
                </a:rPr>
                <a:t>Seque</a:t>
              </a:r>
              <a:r>
                <a:rPr lang="en-US" sz="10542" spc="-316" strike="noStrike" u="none">
                  <a:solidFill>
                    <a:srgbClr val="0A2E4D"/>
                  </a:solidFill>
                  <a:latin typeface="ITC Avant Garde Gothic"/>
                  <a:ea typeface="ITC Avant Garde Gothic"/>
                  <a:cs typeface="ITC Avant Garde Gothic"/>
                  <a:sym typeface="ITC Avant Garde Gothic"/>
                </a:rPr>
                <a:t>n</a:t>
              </a:r>
              <a:r>
                <a:rPr lang="en-US" sz="10542" spc="-316" strike="noStrike" u="none">
                  <a:solidFill>
                    <a:srgbClr val="0A2E4D"/>
                  </a:solidFill>
                  <a:latin typeface="ITC Avant Garde Gothic"/>
                  <a:ea typeface="ITC Avant Garde Gothic"/>
                  <a:cs typeface="ITC Avant Garde Gothic"/>
                  <a:sym typeface="ITC Avant Garde Gothic"/>
                </a:rPr>
                <a:t>ces Diagrams Ove</a:t>
              </a:r>
              <a:r>
                <a:rPr lang="en-US" sz="10542" spc="-316" strike="noStrike" u="none">
                  <a:solidFill>
                    <a:srgbClr val="0A2E4D"/>
                  </a:solidFill>
                  <a:latin typeface="ITC Avant Garde Gothic"/>
                  <a:ea typeface="ITC Avant Garde Gothic"/>
                  <a:cs typeface="ITC Avant Garde Gothic"/>
                  <a:sym typeface="ITC Avant Garde Gothic"/>
                </a:rPr>
                <a:t>r</a:t>
              </a:r>
              <a:r>
                <a:rPr lang="en-US" sz="10542" spc="-316" strike="noStrike" u="none">
                  <a:solidFill>
                    <a:srgbClr val="0A2E4D"/>
                  </a:solidFill>
                  <a:latin typeface="ITC Avant Garde Gothic"/>
                  <a:ea typeface="ITC Avant Garde Gothic"/>
                  <a:cs typeface="ITC Avant Garde Gothic"/>
                  <a:sym typeface="ITC Avant Garde Gothic"/>
                </a:rPr>
                <a:t>v</a:t>
              </a:r>
              <a:r>
                <a:rPr lang="en-US" sz="10542" spc="-316" strike="noStrike" u="none">
                  <a:solidFill>
                    <a:srgbClr val="0A2E4D"/>
                  </a:solidFill>
                  <a:latin typeface="ITC Avant Garde Gothic"/>
                  <a:ea typeface="ITC Avant Garde Gothic"/>
                  <a:cs typeface="ITC Avant Garde Gothic"/>
                  <a:sym typeface="ITC Avant Garde Gothic"/>
                </a:rPr>
                <a:t>i</a:t>
              </a:r>
              <a:r>
                <a:rPr lang="en-US" sz="10542" spc="-316" strike="noStrike" u="none">
                  <a:solidFill>
                    <a:srgbClr val="0A2E4D"/>
                  </a:solidFill>
                  <a:latin typeface="ITC Avant Garde Gothic"/>
                  <a:ea typeface="ITC Avant Garde Gothic"/>
                  <a:cs typeface="ITC Avant Garde Gothic"/>
                  <a:sym typeface="ITC Avant Garde Gothic"/>
                </a:rPr>
                <a:t>ew</a:t>
              </a:r>
            </a:p>
          </p:txBody>
        </p:sp>
        <p:sp>
          <p:nvSpPr>
            <p:cNvPr name="TextBox 4" id="4"/>
            <p:cNvSpPr txBox="true"/>
            <p:nvPr/>
          </p:nvSpPr>
          <p:spPr>
            <a:xfrm rot="0">
              <a:off x="0" y="4879939"/>
              <a:ext cx="22499630" cy="5965491"/>
            </a:xfrm>
            <a:prstGeom prst="rect">
              <a:avLst/>
            </a:prstGeom>
          </p:spPr>
          <p:txBody>
            <a:bodyPr anchor="t" rtlCol="false" tIns="0" lIns="0" bIns="0" rIns="0">
              <a:spAutoFit/>
            </a:bodyPr>
            <a:lstStyle/>
            <a:p>
              <a:pPr algn="l">
                <a:lnSpc>
                  <a:spcPts val="5959"/>
                </a:lnSpc>
              </a:pPr>
            </a:p>
            <a:p>
              <a:pPr algn="l" marL="0" indent="0" lvl="0">
                <a:lnSpc>
                  <a:spcPts val="5959"/>
                </a:lnSpc>
              </a:pPr>
              <a:r>
                <a:rPr lang="en-US" sz="4256">
                  <a:solidFill>
                    <a:srgbClr val="0A2E4D"/>
                  </a:solidFill>
                  <a:latin typeface="TT Fors"/>
                  <a:ea typeface="TT Fors"/>
                  <a:cs typeface="TT Fors"/>
                  <a:sym typeface="TT Fors"/>
                </a:rPr>
                <a:t>This</a:t>
              </a:r>
              <a:r>
                <a:rPr lang="en-US" sz="4256">
                  <a:solidFill>
                    <a:srgbClr val="0A2E4D"/>
                  </a:solidFill>
                  <a:latin typeface="TT Fors"/>
                  <a:ea typeface="TT Fors"/>
                  <a:cs typeface="TT Fors"/>
                  <a:sym typeface="TT Fors"/>
                </a:rPr>
                <a:t> diagrams show the step-by-step flow of interactions between system components.</a:t>
              </a:r>
            </a:p>
            <a:p>
              <a:pPr algn="l" marL="0" indent="0" lvl="0">
                <a:lnSpc>
                  <a:spcPts val="5959"/>
                </a:lnSpc>
              </a:pPr>
              <a:r>
                <a:rPr lang="en-US" sz="4256">
                  <a:solidFill>
                    <a:srgbClr val="0A2E4D"/>
                  </a:solidFill>
                  <a:latin typeface="TT Fors"/>
                  <a:ea typeface="TT Fors"/>
                  <a:cs typeface="TT Fors"/>
                  <a:sym typeface="TT Fors"/>
                </a:rPr>
                <a:t> It highlights the order of messages exchanged and clarifies how the process progresses over time.</a:t>
              </a:r>
            </a:p>
            <a:p>
              <a:pPr algn="l" marL="0" indent="0" lvl="0">
                <a:lnSpc>
                  <a:spcPts val="5959"/>
                </a:lnSpc>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287935" y="666750"/>
            <a:ext cx="11693750" cy="9091890"/>
          </a:xfrm>
          <a:custGeom>
            <a:avLst/>
            <a:gdLst/>
            <a:ahLst/>
            <a:cxnLst/>
            <a:rect r="r" b="b" t="t" l="l"/>
            <a:pathLst>
              <a:path h="9091890" w="11693750">
                <a:moveTo>
                  <a:pt x="0" y="0"/>
                </a:moveTo>
                <a:lnTo>
                  <a:pt x="11693749" y="0"/>
                </a:lnTo>
                <a:lnTo>
                  <a:pt x="11693749" y="9091890"/>
                </a:lnTo>
                <a:lnTo>
                  <a:pt x="0" y="9091890"/>
                </a:lnTo>
                <a:lnTo>
                  <a:pt x="0" y="0"/>
                </a:lnTo>
                <a:close/>
              </a:path>
            </a:pathLst>
          </a:custGeom>
          <a:blipFill>
            <a:blip r:embed="rId2"/>
            <a:stretch>
              <a:fillRect l="0" t="0" r="0" b="0"/>
            </a:stretch>
          </a:blipFill>
        </p:spPr>
      </p:sp>
      <p:sp>
        <p:nvSpPr>
          <p:cNvPr name="TextBox 3" id="3"/>
          <p:cNvSpPr txBox="true"/>
          <p:nvPr/>
        </p:nvSpPr>
        <p:spPr>
          <a:xfrm rot="0">
            <a:off x="666750" y="657225"/>
            <a:ext cx="5143744"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Game </a:t>
            </a: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10494" y="666750"/>
            <a:ext cx="12227589" cy="8926140"/>
          </a:xfrm>
          <a:custGeom>
            <a:avLst/>
            <a:gdLst/>
            <a:ahLst/>
            <a:cxnLst/>
            <a:rect r="r" b="b" t="t" l="l"/>
            <a:pathLst>
              <a:path h="8926140" w="12227589">
                <a:moveTo>
                  <a:pt x="0" y="0"/>
                </a:moveTo>
                <a:lnTo>
                  <a:pt x="12227589" y="0"/>
                </a:lnTo>
                <a:lnTo>
                  <a:pt x="12227589" y="8926140"/>
                </a:lnTo>
                <a:lnTo>
                  <a:pt x="0" y="8926140"/>
                </a:lnTo>
                <a:lnTo>
                  <a:pt x="0" y="0"/>
                </a:lnTo>
                <a:close/>
              </a:path>
            </a:pathLst>
          </a:custGeom>
          <a:blipFill>
            <a:blip r:embed="rId2"/>
            <a:stretch>
              <a:fillRect l="0" t="0" r="0" b="0"/>
            </a:stretch>
          </a:blipFill>
        </p:spPr>
      </p:sp>
      <p:sp>
        <p:nvSpPr>
          <p:cNvPr name="TextBox 3" id="3"/>
          <p:cNvSpPr txBox="true"/>
          <p:nvPr/>
        </p:nvSpPr>
        <p:spPr>
          <a:xfrm rot="0">
            <a:off x="666750" y="657225"/>
            <a:ext cx="5143744"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Le</a:t>
            </a:r>
            <a:r>
              <a:rPr lang="en-US" sz="8000" spc="-240" strike="noStrike" u="none">
                <a:solidFill>
                  <a:srgbClr val="F7F0D9"/>
                </a:solidFill>
                <a:latin typeface="ITC Avant Garde Gothic"/>
                <a:ea typeface="ITC Avant Garde Gothic"/>
                <a:cs typeface="ITC Avant Garde Gothic"/>
                <a:sym typeface="ITC Avant Garde Gothic"/>
              </a:rPr>
              <a:t>a</a:t>
            </a:r>
            <a:r>
              <a:rPr lang="en-US" sz="8000" spc="-240" strike="noStrike" u="none">
                <a:solidFill>
                  <a:srgbClr val="F7F0D9"/>
                </a:solidFill>
                <a:latin typeface="ITC Avant Garde Gothic"/>
                <a:ea typeface="ITC Avant Garde Gothic"/>
                <a:cs typeface="ITC Avant Garde Gothic"/>
                <a:sym typeface="ITC Avant Garde Gothic"/>
              </a:rPr>
              <a:t>gue Tabl</a:t>
            </a:r>
            <a:r>
              <a:rPr lang="en-US" sz="8000" spc="-240" strike="noStrike" u="none">
                <a:solidFill>
                  <a:srgbClr val="F7F0D9"/>
                </a:solidFill>
                <a:latin typeface="ITC Avant Garde Gothic"/>
                <a:ea typeface="ITC Avant Garde Gothic"/>
                <a:cs typeface="ITC Avant Garde Gothic"/>
                <a:sym typeface="ITC Avant Garde Gothic"/>
              </a:rPr>
              <a:t>e Sequence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9812450" y="236494"/>
            <a:ext cx="7630395" cy="9814013"/>
          </a:xfrm>
          <a:custGeom>
            <a:avLst/>
            <a:gdLst/>
            <a:ahLst/>
            <a:cxnLst/>
            <a:rect r="r" b="b" t="t" l="l"/>
            <a:pathLst>
              <a:path h="9814013" w="7630395">
                <a:moveTo>
                  <a:pt x="0" y="0"/>
                </a:moveTo>
                <a:lnTo>
                  <a:pt x="7630395" y="0"/>
                </a:lnTo>
                <a:lnTo>
                  <a:pt x="7630395" y="9814012"/>
                </a:lnTo>
                <a:lnTo>
                  <a:pt x="0" y="9814012"/>
                </a:lnTo>
                <a:lnTo>
                  <a:pt x="0" y="0"/>
                </a:lnTo>
                <a:close/>
              </a:path>
            </a:pathLst>
          </a:custGeom>
          <a:blipFill>
            <a:blip r:embed="rId2"/>
            <a:stretch>
              <a:fillRect l="0" t="0" r="0" b="0"/>
            </a:stretch>
          </a:blipFill>
        </p:spPr>
      </p:sp>
      <p:sp>
        <p:nvSpPr>
          <p:cNvPr name="TextBox 3" id="3"/>
          <p:cNvSpPr txBox="true"/>
          <p:nvPr/>
        </p:nvSpPr>
        <p:spPr>
          <a:xfrm rot="0">
            <a:off x="666750" y="657225"/>
            <a:ext cx="5475586" cy="22320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Line-</a:t>
            </a:r>
            <a:r>
              <a:rPr lang="en-US" sz="8000" spc="-240" strike="noStrike" u="none">
                <a:solidFill>
                  <a:srgbClr val="F7F0D9"/>
                </a:solidFill>
                <a:latin typeface="ITC Avant Garde Gothic"/>
                <a:ea typeface="ITC Avant Garde Gothic"/>
                <a:cs typeface="ITC Avant Garde Gothic"/>
                <a:sym typeface="ITC Avant Garde Gothic"/>
              </a:rPr>
              <a:t>u</a:t>
            </a:r>
            <a:r>
              <a:rPr lang="en-US" sz="8000" spc="-240" strike="noStrike" u="none">
                <a:solidFill>
                  <a:srgbClr val="F7F0D9"/>
                </a:solidFill>
                <a:latin typeface="ITC Avant Garde Gothic"/>
                <a:ea typeface="ITC Avant Garde Gothic"/>
                <a:cs typeface="ITC Avant Garde Gothic"/>
                <a:sym typeface="ITC Avant Garde Gothic"/>
              </a:rPr>
              <a:t>p</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grpSp>
        <p:nvGrpSpPr>
          <p:cNvPr name="Group 2" id="2"/>
          <p:cNvGrpSpPr/>
          <p:nvPr/>
        </p:nvGrpSpPr>
        <p:grpSpPr>
          <a:xfrm rot="0">
            <a:off x="5716905" y="9021128"/>
            <a:ext cx="1352550" cy="551498"/>
            <a:chOff x="0" y="0"/>
            <a:chExt cx="1803400" cy="735330"/>
          </a:xfrm>
        </p:grpSpPr>
        <p:sp>
          <p:nvSpPr>
            <p:cNvPr name="Freeform 3" id="3"/>
            <p:cNvSpPr/>
            <p:nvPr/>
          </p:nvSpPr>
          <p:spPr>
            <a:xfrm flipH="false" flipV="false" rot="0">
              <a:off x="50800" y="48859"/>
              <a:ext cx="1703927" cy="635671"/>
            </a:xfrm>
            <a:custGeom>
              <a:avLst/>
              <a:gdLst/>
              <a:ahLst/>
              <a:cxnLst/>
              <a:rect r="r" b="b" t="t" l="l"/>
              <a:pathLst>
                <a:path h="635671" w="1703927">
                  <a:moveTo>
                    <a:pt x="0" y="363891"/>
                  </a:moveTo>
                  <a:cubicBezTo>
                    <a:pt x="0" y="363891"/>
                    <a:pt x="1270" y="357541"/>
                    <a:pt x="1270" y="355001"/>
                  </a:cubicBezTo>
                  <a:cubicBezTo>
                    <a:pt x="2540" y="351191"/>
                    <a:pt x="3810" y="346111"/>
                    <a:pt x="3810" y="346111"/>
                  </a:cubicBezTo>
                  <a:cubicBezTo>
                    <a:pt x="3810" y="346111"/>
                    <a:pt x="6350" y="341031"/>
                    <a:pt x="7620" y="337221"/>
                  </a:cubicBezTo>
                  <a:cubicBezTo>
                    <a:pt x="8890" y="334681"/>
                    <a:pt x="11430" y="329601"/>
                    <a:pt x="12700" y="329601"/>
                  </a:cubicBezTo>
                  <a:cubicBezTo>
                    <a:pt x="12700" y="329601"/>
                    <a:pt x="16510" y="325791"/>
                    <a:pt x="17780" y="323251"/>
                  </a:cubicBezTo>
                  <a:cubicBezTo>
                    <a:pt x="20320" y="320711"/>
                    <a:pt x="24130" y="315631"/>
                    <a:pt x="24130" y="315631"/>
                  </a:cubicBezTo>
                  <a:cubicBezTo>
                    <a:pt x="24130" y="315631"/>
                    <a:pt x="29210" y="313091"/>
                    <a:pt x="31750" y="310551"/>
                  </a:cubicBezTo>
                  <a:cubicBezTo>
                    <a:pt x="34290" y="309281"/>
                    <a:pt x="39370" y="305471"/>
                    <a:pt x="39370" y="305471"/>
                  </a:cubicBezTo>
                  <a:cubicBezTo>
                    <a:pt x="39370" y="305471"/>
                    <a:pt x="44450" y="302931"/>
                    <a:pt x="46990" y="302931"/>
                  </a:cubicBezTo>
                  <a:cubicBezTo>
                    <a:pt x="50800" y="301661"/>
                    <a:pt x="55880" y="299121"/>
                    <a:pt x="55880" y="299121"/>
                  </a:cubicBezTo>
                  <a:cubicBezTo>
                    <a:pt x="55880" y="299121"/>
                    <a:pt x="60960" y="300391"/>
                    <a:pt x="63500" y="297851"/>
                  </a:cubicBezTo>
                  <a:cubicBezTo>
                    <a:pt x="68580" y="291501"/>
                    <a:pt x="46990" y="241971"/>
                    <a:pt x="53340" y="214031"/>
                  </a:cubicBezTo>
                  <a:cubicBezTo>
                    <a:pt x="60960" y="181011"/>
                    <a:pt x="85090" y="137831"/>
                    <a:pt x="115570" y="113701"/>
                  </a:cubicBezTo>
                  <a:cubicBezTo>
                    <a:pt x="149860" y="87031"/>
                    <a:pt x="212090" y="84491"/>
                    <a:pt x="257810" y="70521"/>
                  </a:cubicBezTo>
                  <a:cubicBezTo>
                    <a:pt x="298450" y="56551"/>
                    <a:pt x="350520" y="38771"/>
                    <a:pt x="374650" y="32421"/>
                  </a:cubicBezTo>
                  <a:cubicBezTo>
                    <a:pt x="384810" y="29881"/>
                    <a:pt x="389890" y="29881"/>
                    <a:pt x="397510" y="28611"/>
                  </a:cubicBezTo>
                  <a:cubicBezTo>
                    <a:pt x="405130" y="27341"/>
                    <a:pt x="411480" y="24801"/>
                    <a:pt x="419100" y="22261"/>
                  </a:cubicBezTo>
                  <a:cubicBezTo>
                    <a:pt x="427990" y="20991"/>
                    <a:pt x="439420" y="22261"/>
                    <a:pt x="452120" y="19721"/>
                  </a:cubicBezTo>
                  <a:cubicBezTo>
                    <a:pt x="466090" y="18451"/>
                    <a:pt x="481330" y="14641"/>
                    <a:pt x="500380" y="13371"/>
                  </a:cubicBezTo>
                  <a:cubicBezTo>
                    <a:pt x="527050" y="9561"/>
                    <a:pt x="567690" y="5751"/>
                    <a:pt x="599440" y="4481"/>
                  </a:cubicBezTo>
                  <a:cubicBezTo>
                    <a:pt x="627380" y="3211"/>
                    <a:pt x="654050" y="-3139"/>
                    <a:pt x="679450" y="1941"/>
                  </a:cubicBezTo>
                  <a:cubicBezTo>
                    <a:pt x="707390" y="7021"/>
                    <a:pt x="736600" y="22261"/>
                    <a:pt x="759460" y="40041"/>
                  </a:cubicBezTo>
                  <a:cubicBezTo>
                    <a:pt x="784860" y="57821"/>
                    <a:pt x="819150" y="103541"/>
                    <a:pt x="825500" y="111161"/>
                  </a:cubicBezTo>
                  <a:cubicBezTo>
                    <a:pt x="826770" y="112431"/>
                    <a:pt x="825500" y="112431"/>
                    <a:pt x="826770" y="113701"/>
                  </a:cubicBezTo>
                  <a:cubicBezTo>
                    <a:pt x="834390" y="117511"/>
                    <a:pt x="880110" y="130211"/>
                    <a:pt x="906780" y="130211"/>
                  </a:cubicBezTo>
                  <a:cubicBezTo>
                    <a:pt x="934720" y="128941"/>
                    <a:pt x="965200" y="112431"/>
                    <a:pt x="993140" y="106081"/>
                  </a:cubicBezTo>
                  <a:cubicBezTo>
                    <a:pt x="1016000" y="99731"/>
                    <a:pt x="1047750" y="93381"/>
                    <a:pt x="1060450" y="90841"/>
                  </a:cubicBezTo>
                  <a:cubicBezTo>
                    <a:pt x="1064260" y="89571"/>
                    <a:pt x="1065530" y="89571"/>
                    <a:pt x="1068070" y="89571"/>
                  </a:cubicBezTo>
                  <a:cubicBezTo>
                    <a:pt x="1070610" y="89571"/>
                    <a:pt x="1076960" y="88301"/>
                    <a:pt x="1076960" y="88301"/>
                  </a:cubicBezTo>
                  <a:cubicBezTo>
                    <a:pt x="1076960" y="88301"/>
                    <a:pt x="1082040" y="88301"/>
                    <a:pt x="1084580" y="89571"/>
                  </a:cubicBezTo>
                  <a:cubicBezTo>
                    <a:pt x="1087120" y="89571"/>
                    <a:pt x="1093470" y="89571"/>
                    <a:pt x="1093470" y="89571"/>
                  </a:cubicBezTo>
                  <a:cubicBezTo>
                    <a:pt x="1093470" y="89571"/>
                    <a:pt x="1098550" y="92111"/>
                    <a:pt x="1101090" y="92111"/>
                  </a:cubicBezTo>
                  <a:cubicBezTo>
                    <a:pt x="1103630" y="93381"/>
                    <a:pt x="1108710" y="95921"/>
                    <a:pt x="1108710" y="95921"/>
                  </a:cubicBezTo>
                  <a:cubicBezTo>
                    <a:pt x="1108710" y="95921"/>
                    <a:pt x="1113790" y="98461"/>
                    <a:pt x="1116330" y="99731"/>
                  </a:cubicBezTo>
                  <a:cubicBezTo>
                    <a:pt x="1118870" y="101001"/>
                    <a:pt x="1122680" y="104811"/>
                    <a:pt x="1122680" y="104811"/>
                  </a:cubicBezTo>
                  <a:cubicBezTo>
                    <a:pt x="1122680" y="104811"/>
                    <a:pt x="1126490" y="108621"/>
                    <a:pt x="1129030" y="111161"/>
                  </a:cubicBezTo>
                  <a:cubicBezTo>
                    <a:pt x="1130300" y="112431"/>
                    <a:pt x="1134110" y="116241"/>
                    <a:pt x="1134110" y="117511"/>
                  </a:cubicBezTo>
                  <a:cubicBezTo>
                    <a:pt x="1134110" y="117511"/>
                    <a:pt x="1136650" y="121321"/>
                    <a:pt x="1137920" y="123861"/>
                  </a:cubicBezTo>
                  <a:cubicBezTo>
                    <a:pt x="1140460" y="126401"/>
                    <a:pt x="1143000" y="131481"/>
                    <a:pt x="1143000" y="131481"/>
                  </a:cubicBezTo>
                  <a:cubicBezTo>
                    <a:pt x="1143000" y="131481"/>
                    <a:pt x="1144270" y="136561"/>
                    <a:pt x="1144270" y="139101"/>
                  </a:cubicBezTo>
                  <a:cubicBezTo>
                    <a:pt x="1145540" y="142911"/>
                    <a:pt x="1146810" y="147991"/>
                    <a:pt x="1146810" y="147991"/>
                  </a:cubicBezTo>
                  <a:cubicBezTo>
                    <a:pt x="1146810" y="147991"/>
                    <a:pt x="1146810" y="153071"/>
                    <a:pt x="1146810" y="155611"/>
                  </a:cubicBezTo>
                  <a:cubicBezTo>
                    <a:pt x="1146810" y="159421"/>
                    <a:pt x="1148080" y="164501"/>
                    <a:pt x="1148080" y="164501"/>
                  </a:cubicBezTo>
                  <a:cubicBezTo>
                    <a:pt x="1148080" y="164501"/>
                    <a:pt x="1146810" y="169581"/>
                    <a:pt x="1145540" y="172121"/>
                  </a:cubicBezTo>
                  <a:cubicBezTo>
                    <a:pt x="1145540" y="175931"/>
                    <a:pt x="1144270" y="181011"/>
                    <a:pt x="1144270" y="181011"/>
                  </a:cubicBezTo>
                  <a:cubicBezTo>
                    <a:pt x="1144270" y="181011"/>
                    <a:pt x="1141730" y="186091"/>
                    <a:pt x="1140460" y="188631"/>
                  </a:cubicBezTo>
                  <a:cubicBezTo>
                    <a:pt x="1139190" y="191171"/>
                    <a:pt x="1136650" y="196251"/>
                    <a:pt x="1136650" y="196251"/>
                  </a:cubicBezTo>
                  <a:cubicBezTo>
                    <a:pt x="1136650" y="196251"/>
                    <a:pt x="1132840" y="200061"/>
                    <a:pt x="1131570" y="202601"/>
                  </a:cubicBezTo>
                  <a:cubicBezTo>
                    <a:pt x="1129030" y="203871"/>
                    <a:pt x="1125220" y="208951"/>
                    <a:pt x="1125220" y="208951"/>
                  </a:cubicBezTo>
                  <a:cubicBezTo>
                    <a:pt x="1125220" y="208951"/>
                    <a:pt x="1121410" y="211491"/>
                    <a:pt x="1118870" y="214031"/>
                  </a:cubicBezTo>
                  <a:cubicBezTo>
                    <a:pt x="1116330" y="215301"/>
                    <a:pt x="1112520" y="219111"/>
                    <a:pt x="1112520" y="219111"/>
                  </a:cubicBezTo>
                  <a:cubicBezTo>
                    <a:pt x="1112520" y="219111"/>
                    <a:pt x="1107440" y="220381"/>
                    <a:pt x="1104900" y="221651"/>
                  </a:cubicBezTo>
                  <a:cubicBezTo>
                    <a:pt x="1101090" y="222921"/>
                    <a:pt x="1096010" y="225461"/>
                    <a:pt x="1096010" y="225461"/>
                  </a:cubicBezTo>
                  <a:cubicBezTo>
                    <a:pt x="1096010" y="225461"/>
                    <a:pt x="1071880" y="233081"/>
                    <a:pt x="1073150" y="236891"/>
                  </a:cubicBezTo>
                  <a:cubicBezTo>
                    <a:pt x="1074420" y="245781"/>
                    <a:pt x="1179830" y="250861"/>
                    <a:pt x="1239520" y="258481"/>
                  </a:cubicBezTo>
                  <a:cubicBezTo>
                    <a:pt x="1306830" y="266101"/>
                    <a:pt x="1393190" y="277531"/>
                    <a:pt x="1455420" y="282611"/>
                  </a:cubicBezTo>
                  <a:cubicBezTo>
                    <a:pt x="1501140" y="287691"/>
                    <a:pt x="1536700" y="280071"/>
                    <a:pt x="1576070" y="292771"/>
                  </a:cubicBezTo>
                  <a:cubicBezTo>
                    <a:pt x="1619250" y="304201"/>
                    <a:pt x="1689100" y="329601"/>
                    <a:pt x="1700530" y="358811"/>
                  </a:cubicBezTo>
                  <a:cubicBezTo>
                    <a:pt x="1710690" y="382941"/>
                    <a:pt x="1696720" y="421041"/>
                    <a:pt x="1676400" y="443901"/>
                  </a:cubicBezTo>
                  <a:cubicBezTo>
                    <a:pt x="1647190" y="476921"/>
                    <a:pt x="1579880" y="498511"/>
                    <a:pt x="1518920" y="516291"/>
                  </a:cubicBezTo>
                  <a:cubicBezTo>
                    <a:pt x="1446530" y="537881"/>
                    <a:pt x="1346200" y="540421"/>
                    <a:pt x="1263650" y="554391"/>
                  </a:cubicBezTo>
                  <a:cubicBezTo>
                    <a:pt x="1186180" y="568361"/>
                    <a:pt x="1107440" y="588681"/>
                    <a:pt x="1040130" y="598841"/>
                  </a:cubicBezTo>
                  <a:cubicBezTo>
                    <a:pt x="986790" y="609001"/>
                    <a:pt x="935990" y="614081"/>
                    <a:pt x="894080" y="619161"/>
                  </a:cubicBezTo>
                  <a:cubicBezTo>
                    <a:pt x="864870" y="622971"/>
                    <a:pt x="839470" y="626781"/>
                    <a:pt x="817880" y="630591"/>
                  </a:cubicBezTo>
                  <a:cubicBezTo>
                    <a:pt x="800100" y="631861"/>
                    <a:pt x="769620" y="635671"/>
                    <a:pt x="769620" y="635671"/>
                  </a:cubicBezTo>
                  <a:cubicBezTo>
                    <a:pt x="769620" y="635671"/>
                    <a:pt x="764540" y="635671"/>
                    <a:pt x="762000" y="635671"/>
                  </a:cubicBezTo>
                  <a:cubicBezTo>
                    <a:pt x="759460" y="635671"/>
                    <a:pt x="754380" y="635671"/>
                    <a:pt x="754380" y="635671"/>
                  </a:cubicBezTo>
                  <a:cubicBezTo>
                    <a:pt x="754380" y="635671"/>
                    <a:pt x="749300" y="634401"/>
                    <a:pt x="746760" y="633131"/>
                  </a:cubicBezTo>
                  <a:cubicBezTo>
                    <a:pt x="744220" y="633131"/>
                    <a:pt x="739140" y="631861"/>
                    <a:pt x="739140" y="631861"/>
                  </a:cubicBezTo>
                  <a:cubicBezTo>
                    <a:pt x="739140" y="631861"/>
                    <a:pt x="735330" y="629321"/>
                    <a:pt x="732790" y="628051"/>
                  </a:cubicBezTo>
                  <a:cubicBezTo>
                    <a:pt x="730250" y="626781"/>
                    <a:pt x="726440" y="624241"/>
                    <a:pt x="726440" y="624241"/>
                  </a:cubicBezTo>
                  <a:cubicBezTo>
                    <a:pt x="726440" y="624241"/>
                    <a:pt x="722630" y="620431"/>
                    <a:pt x="720090" y="619161"/>
                  </a:cubicBezTo>
                  <a:cubicBezTo>
                    <a:pt x="718820" y="617891"/>
                    <a:pt x="715010" y="614081"/>
                    <a:pt x="715010" y="614081"/>
                  </a:cubicBezTo>
                  <a:cubicBezTo>
                    <a:pt x="715010" y="614081"/>
                    <a:pt x="711200" y="609001"/>
                    <a:pt x="709930" y="607731"/>
                  </a:cubicBezTo>
                  <a:cubicBezTo>
                    <a:pt x="708660" y="605191"/>
                    <a:pt x="706120" y="601381"/>
                    <a:pt x="706120" y="601381"/>
                  </a:cubicBezTo>
                  <a:cubicBezTo>
                    <a:pt x="706120" y="601381"/>
                    <a:pt x="703580" y="596301"/>
                    <a:pt x="703580" y="593761"/>
                  </a:cubicBezTo>
                  <a:cubicBezTo>
                    <a:pt x="702310" y="591221"/>
                    <a:pt x="701040" y="586141"/>
                    <a:pt x="701040" y="586141"/>
                  </a:cubicBezTo>
                  <a:cubicBezTo>
                    <a:pt x="701040" y="586141"/>
                    <a:pt x="699770" y="581061"/>
                    <a:pt x="699770" y="578521"/>
                  </a:cubicBezTo>
                  <a:cubicBezTo>
                    <a:pt x="699770" y="575981"/>
                    <a:pt x="698500" y="570901"/>
                    <a:pt x="698500" y="570901"/>
                  </a:cubicBezTo>
                  <a:cubicBezTo>
                    <a:pt x="698500" y="570901"/>
                    <a:pt x="699770" y="565821"/>
                    <a:pt x="699770" y="563281"/>
                  </a:cubicBezTo>
                  <a:cubicBezTo>
                    <a:pt x="699770" y="560741"/>
                    <a:pt x="701040" y="555661"/>
                    <a:pt x="701040" y="555661"/>
                  </a:cubicBezTo>
                  <a:cubicBezTo>
                    <a:pt x="701040" y="555661"/>
                    <a:pt x="702310" y="550581"/>
                    <a:pt x="703580" y="548041"/>
                  </a:cubicBezTo>
                  <a:cubicBezTo>
                    <a:pt x="704850" y="546771"/>
                    <a:pt x="706120" y="541691"/>
                    <a:pt x="706120" y="541691"/>
                  </a:cubicBezTo>
                  <a:cubicBezTo>
                    <a:pt x="706120" y="541691"/>
                    <a:pt x="709930" y="536611"/>
                    <a:pt x="711200" y="535341"/>
                  </a:cubicBezTo>
                  <a:cubicBezTo>
                    <a:pt x="712470" y="532801"/>
                    <a:pt x="715010" y="528991"/>
                    <a:pt x="715010" y="528991"/>
                  </a:cubicBezTo>
                  <a:cubicBezTo>
                    <a:pt x="715010" y="528991"/>
                    <a:pt x="718820" y="525181"/>
                    <a:pt x="721360" y="523911"/>
                  </a:cubicBezTo>
                  <a:cubicBezTo>
                    <a:pt x="722630" y="522641"/>
                    <a:pt x="726440" y="518831"/>
                    <a:pt x="726440" y="518831"/>
                  </a:cubicBezTo>
                  <a:cubicBezTo>
                    <a:pt x="726440" y="518831"/>
                    <a:pt x="727710" y="518831"/>
                    <a:pt x="727710" y="518831"/>
                  </a:cubicBezTo>
                  <a:cubicBezTo>
                    <a:pt x="727710" y="516291"/>
                    <a:pt x="694690" y="501051"/>
                    <a:pt x="688340" y="488351"/>
                  </a:cubicBezTo>
                  <a:cubicBezTo>
                    <a:pt x="681990" y="475651"/>
                    <a:pt x="697230" y="450251"/>
                    <a:pt x="688340" y="441361"/>
                  </a:cubicBezTo>
                  <a:cubicBezTo>
                    <a:pt x="678180" y="429931"/>
                    <a:pt x="643890" y="435011"/>
                    <a:pt x="622300" y="437551"/>
                  </a:cubicBezTo>
                  <a:cubicBezTo>
                    <a:pt x="603250" y="438821"/>
                    <a:pt x="589280" y="447711"/>
                    <a:pt x="567690" y="451521"/>
                  </a:cubicBezTo>
                  <a:cubicBezTo>
                    <a:pt x="537210" y="456601"/>
                    <a:pt x="496570" y="457871"/>
                    <a:pt x="458470" y="460411"/>
                  </a:cubicBezTo>
                  <a:cubicBezTo>
                    <a:pt x="419100" y="461681"/>
                    <a:pt x="378460" y="461681"/>
                    <a:pt x="336550" y="461681"/>
                  </a:cubicBezTo>
                  <a:cubicBezTo>
                    <a:pt x="294640" y="461681"/>
                    <a:pt x="250190" y="460411"/>
                    <a:pt x="208280" y="459141"/>
                  </a:cubicBezTo>
                  <a:cubicBezTo>
                    <a:pt x="166370" y="459141"/>
                    <a:pt x="100330" y="466761"/>
                    <a:pt x="83820" y="457871"/>
                  </a:cubicBezTo>
                  <a:cubicBezTo>
                    <a:pt x="77470" y="455331"/>
                    <a:pt x="78740" y="448981"/>
                    <a:pt x="74930" y="447711"/>
                  </a:cubicBezTo>
                  <a:cubicBezTo>
                    <a:pt x="72390" y="446441"/>
                    <a:pt x="68580" y="446441"/>
                    <a:pt x="66040" y="446441"/>
                  </a:cubicBezTo>
                  <a:cubicBezTo>
                    <a:pt x="62230" y="446441"/>
                    <a:pt x="57150" y="445171"/>
                    <a:pt x="57150" y="445171"/>
                  </a:cubicBezTo>
                  <a:cubicBezTo>
                    <a:pt x="57150" y="445171"/>
                    <a:pt x="50800" y="443901"/>
                    <a:pt x="48260" y="442631"/>
                  </a:cubicBezTo>
                  <a:cubicBezTo>
                    <a:pt x="45720" y="441361"/>
                    <a:pt x="39370" y="438821"/>
                    <a:pt x="39370" y="438821"/>
                  </a:cubicBezTo>
                  <a:cubicBezTo>
                    <a:pt x="39370" y="438821"/>
                    <a:pt x="34290" y="436281"/>
                    <a:pt x="31750" y="433741"/>
                  </a:cubicBezTo>
                  <a:cubicBezTo>
                    <a:pt x="29210" y="432471"/>
                    <a:pt x="25400" y="428661"/>
                    <a:pt x="24130" y="428661"/>
                  </a:cubicBezTo>
                  <a:cubicBezTo>
                    <a:pt x="24130" y="428661"/>
                    <a:pt x="20320" y="424851"/>
                    <a:pt x="19050" y="422311"/>
                  </a:cubicBezTo>
                  <a:cubicBezTo>
                    <a:pt x="16510" y="419771"/>
                    <a:pt x="12700" y="415961"/>
                    <a:pt x="12700" y="415961"/>
                  </a:cubicBezTo>
                  <a:cubicBezTo>
                    <a:pt x="12700" y="414691"/>
                    <a:pt x="10160" y="409611"/>
                    <a:pt x="8890" y="407071"/>
                  </a:cubicBezTo>
                  <a:cubicBezTo>
                    <a:pt x="6350" y="404531"/>
                    <a:pt x="3810" y="399451"/>
                    <a:pt x="3810" y="399451"/>
                  </a:cubicBezTo>
                  <a:cubicBezTo>
                    <a:pt x="3810" y="399451"/>
                    <a:pt x="2540" y="393101"/>
                    <a:pt x="1270" y="390561"/>
                  </a:cubicBezTo>
                  <a:cubicBezTo>
                    <a:pt x="1270" y="388021"/>
                    <a:pt x="0" y="381671"/>
                    <a:pt x="0" y="381671"/>
                  </a:cubicBezTo>
                  <a:cubicBezTo>
                    <a:pt x="0" y="381671"/>
                    <a:pt x="0" y="375321"/>
                    <a:pt x="0" y="372781"/>
                  </a:cubicBezTo>
                  <a:cubicBezTo>
                    <a:pt x="0" y="368971"/>
                    <a:pt x="0" y="363891"/>
                    <a:pt x="0" y="363891"/>
                  </a:cubicBezTo>
                  <a:moveTo>
                    <a:pt x="1277620" y="427391"/>
                  </a:moveTo>
                  <a:cubicBezTo>
                    <a:pt x="1437640" y="396911"/>
                    <a:pt x="1296670" y="380401"/>
                    <a:pt x="1291590" y="388021"/>
                  </a:cubicBezTo>
                  <a:cubicBezTo>
                    <a:pt x="1290320" y="389291"/>
                    <a:pt x="1295400" y="391831"/>
                    <a:pt x="1295400" y="395641"/>
                  </a:cubicBezTo>
                  <a:cubicBezTo>
                    <a:pt x="1294130" y="401991"/>
                    <a:pt x="1277620" y="427391"/>
                    <a:pt x="1277620" y="427391"/>
                  </a:cubicBezTo>
                </a:path>
              </a:pathLst>
            </a:custGeom>
            <a:solidFill>
              <a:srgbClr val="0A2E4D"/>
            </a:solidFill>
            <a:ln cap="sq">
              <a:noFill/>
              <a:prstDash val="solid"/>
              <a:miter/>
            </a:ln>
          </p:spPr>
        </p:sp>
      </p:grpSp>
      <p:sp>
        <p:nvSpPr>
          <p:cNvPr name="Freeform 4" id="4"/>
          <p:cNvSpPr/>
          <p:nvPr/>
        </p:nvSpPr>
        <p:spPr>
          <a:xfrm flipH="false" flipV="false" rot="0">
            <a:off x="5716905" y="738187"/>
            <a:ext cx="12199829" cy="8905875"/>
          </a:xfrm>
          <a:custGeom>
            <a:avLst/>
            <a:gdLst/>
            <a:ahLst/>
            <a:cxnLst/>
            <a:rect r="r" b="b" t="t" l="l"/>
            <a:pathLst>
              <a:path h="8905875" w="12199829">
                <a:moveTo>
                  <a:pt x="0" y="0"/>
                </a:moveTo>
                <a:lnTo>
                  <a:pt x="12199829" y="0"/>
                </a:lnTo>
                <a:lnTo>
                  <a:pt x="12199829" y="8905876"/>
                </a:lnTo>
                <a:lnTo>
                  <a:pt x="0" y="8905876"/>
                </a:lnTo>
                <a:lnTo>
                  <a:pt x="0" y="0"/>
                </a:lnTo>
                <a:close/>
              </a:path>
            </a:pathLst>
          </a:custGeom>
          <a:blipFill>
            <a:blip r:embed="rId2"/>
            <a:stretch>
              <a:fillRect l="0" t="0" r="0" b="0"/>
            </a:stretch>
          </a:blipFill>
        </p:spPr>
      </p:sp>
      <p:sp>
        <p:nvSpPr>
          <p:cNvPr name="TextBox 5" id="5"/>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Manage Players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48594" y="666750"/>
            <a:ext cx="12145664" cy="8866335"/>
          </a:xfrm>
          <a:custGeom>
            <a:avLst/>
            <a:gdLst/>
            <a:ahLst/>
            <a:cxnLst/>
            <a:rect r="r" b="b" t="t" l="l"/>
            <a:pathLst>
              <a:path h="8866335" w="12145664">
                <a:moveTo>
                  <a:pt x="0" y="0"/>
                </a:moveTo>
                <a:lnTo>
                  <a:pt x="12145664" y="0"/>
                </a:lnTo>
                <a:lnTo>
                  <a:pt x="12145664" y="8866335"/>
                </a:lnTo>
                <a:lnTo>
                  <a:pt x="0" y="8866335"/>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Select Team</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142336" y="666750"/>
            <a:ext cx="11864874" cy="9224940"/>
          </a:xfrm>
          <a:custGeom>
            <a:avLst/>
            <a:gdLst/>
            <a:ahLst/>
            <a:cxnLst/>
            <a:rect r="r" b="b" t="t" l="l"/>
            <a:pathLst>
              <a:path h="9224940" w="11864874">
                <a:moveTo>
                  <a:pt x="0" y="0"/>
                </a:moveTo>
                <a:lnTo>
                  <a:pt x="11864875" y="0"/>
                </a:lnTo>
                <a:lnTo>
                  <a:pt x="11864875" y="9224940"/>
                </a:lnTo>
                <a:lnTo>
                  <a:pt x="0" y="9224940"/>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Simulate Match</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789432" y="847725"/>
            <a:ext cx="11990049" cy="8752736"/>
          </a:xfrm>
          <a:custGeom>
            <a:avLst/>
            <a:gdLst/>
            <a:ahLst/>
            <a:cxnLst/>
            <a:rect r="r" b="b" t="t" l="l"/>
            <a:pathLst>
              <a:path h="8752736" w="11990049">
                <a:moveTo>
                  <a:pt x="0" y="0"/>
                </a:moveTo>
                <a:lnTo>
                  <a:pt x="11990048" y="0"/>
                </a:lnTo>
                <a:lnTo>
                  <a:pt x="11990048" y="8752736"/>
                </a:lnTo>
                <a:lnTo>
                  <a:pt x="0" y="8752736"/>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Team Details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33162" y="666750"/>
            <a:ext cx="12176055" cy="8888520"/>
          </a:xfrm>
          <a:custGeom>
            <a:avLst/>
            <a:gdLst/>
            <a:ahLst/>
            <a:cxnLst/>
            <a:rect r="r" b="b" t="t" l="l"/>
            <a:pathLst>
              <a:path h="8888520" w="12176055">
                <a:moveTo>
                  <a:pt x="0" y="0"/>
                </a:moveTo>
                <a:lnTo>
                  <a:pt x="12176055" y="0"/>
                </a:lnTo>
                <a:lnTo>
                  <a:pt x="12176055" y="8888520"/>
                </a:lnTo>
                <a:lnTo>
                  <a:pt x="0" y="8888520"/>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Update league table</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52420" y="666750"/>
            <a:ext cx="12059163" cy="8803189"/>
          </a:xfrm>
          <a:custGeom>
            <a:avLst/>
            <a:gdLst/>
            <a:ahLst/>
            <a:cxnLst/>
            <a:rect r="r" b="b" t="t" l="l"/>
            <a:pathLst>
              <a:path h="8803189" w="12059163">
                <a:moveTo>
                  <a:pt x="0" y="0"/>
                </a:moveTo>
                <a:lnTo>
                  <a:pt x="12059163" y="0"/>
                </a:lnTo>
                <a:lnTo>
                  <a:pt x="12059163" y="8803189"/>
                </a:lnTo>
                <a:lnTo>
                  <a:pt x="0" y="8803189"/>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Match Results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925674" y="666750"/>
            <a:ext cx="11955912" cy="8727815"/>
          </a:xfrm>
          <a:custGeom>
            <a:avLst/>
            <a:gdLst/>
            <a:ahLst/>
            <a:cxnLst/>
            <a:rect r="r" b="b" t="t" l="l"/>
            <a:pathLst>
              <a:path h="8727815" w="11955912">
                <a:moveTo>
                  <a:pt x="0" y="0"/>
                </a:moveTo>
                <a:lnTo>
                  <a:pt x="11955912" y="0"/>
                </a:lnTo>
                <a:lnTo>
                  <a:pt x="11955912" y="8727815"/>
                </a:lnTo>
                <a:lnTo>
                  <a:pt x="0" y="8727815"/>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a:lnSpc>
                <a:spcPts val="8000"/>
              </a:lnSpc>
            </a:pPr>
            <a:r>
              <a:rPr lang="en-US" sz="8000" spc="-240">
                <a:solidFill>
                  <a:srgbClr val="F7F0D9"/>
                </a:solidFill>
                <a:latin typeface="ITC Avant Garde Gothic"/>
                <a:ea typeface="ITC Avant Garde Gothic"/>
                <a:cs typeface="ITC Avant Garde Gothic"/>
                <a:sym typeface="ITC Avant Garde Gothic"/>
              </a:rPr>
              <a:t>View </a:t>
            </a:r>
          </a:p>
          <a:p>
            <a:pPr algn="l">
              <a:lnSpc>
                <a:spcPts val="8000"/>
              </a:lnSpc>
            </a:pPr>
            <a:r>
              <a:rPr lang="en-US" sz="8000" spc="-240">
                <a:solidFill>
                  <a:srgbClr val="F7F0D9"/>
                </a:solidFill>
                <a:latin typeface="ITC Avant Garde Gothic"/>
                <a:ea typeface="ITC Avant Garde Gothic"/>
                <a:cs typeface="ITC Avant Garde Gothic"/>
                <a:sym typeface="ITC Avant Garde Gothic"/>
              </a:rPr>
              <a:t>Top </a:t>
            </a:r>
          </a:p>
          <a:p>
            <a:pPr algn="l">
              <a:lnSpc>
                <a:spcPts val="8000"/>
              </a:lnSpc>
            </a:pPr>
            <a:r>
              <a:rPr lang="en-US" sz="8000" spc="-240">
                <a:solidFill>
                  <a:srgbClr val="F7F0D9"/>
                </a:solidFill>
                <a:latin typeface="ITC Avant Garde Gothic"/>
                <a:ea typeface="ITC Avant Garde Gothic"/>
                <a:cs typeface="ITC Avant Garde Gothic"/>
                <a:sym typeface="ITC Avant Garde Gothic"/>
              </a:rPr>
              <a:t>Scorers</a:t>
            </a:r>
          </a:p>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112339" y="723900"/>
            <a:ext cx="11769247" cy="8591550"/>
          </a:xfrm>
          <a:custGeom>
            <a:avLst/>
            <a:gdLst/>
            <a:ahLst/>
            <a:cxnLst/>
            <a:rect r="r" b="b" t="t" l="l"/>
            <a:pathLst>
              <a:path h="8591550" w="11769247">
                <a:moveTo>
                  <a:pt x="0" y="0"/>
                </a:moveTo>
                <a:lnTo>
                  <a:pt x="11769247" y="0"/>
                </a:lnTo>
                <a:lnTo>
                  <a:pt x="11769247" y="8591550"/>
                </a:lnTo>
                <a:lnTo>
                  <a:pt x="0" y="8591550"/>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a:lnSpc>
                <a:spcPts val="8000"/>
              </a:lnSpc>
            </a:pPr>
            <a:r>
              <a:rPr lang="en-US" sz="8000" spc="-240">
                <a:solidFill>
                  <a:srgbClr val="F7F0D9"/>
                </a:solidFill>
                <a:latin typeface="ITC Avant Garde Gothic"/>
                <a:ea typeface="ITC Avant Garde Gothic"/>
                <a:cs typeface="ITC Avant Garde Gothic"/>
                <a:sym typeface="ITC Avant Garde Gothic"/>
              </a:rPr>
              <a:t>View Upcoming Matches </a:t>
            </a:r>
          </a:p>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7381082"/>
            <a:chOff x="0" y="0"/>
            <a:chExt cx="22499630" cy="9841443"/>
          </a:xfrm>
        </p:grpSpPr>
        <p:sp>
          <p:nvSpPr>
            <p:cNvPr name="TextBox 3" id="3"/>
            <p:cNvSpPr txBox="true"/>
            <p:nvPr/>
          </p:nvSpPr>
          <p:spPr>
            <a:xfrm rot="0">
              <a:off x="0" y="0"/>
              <a:ext cx="19682454" cy="3905250"/>
            </a:xfrm>
            <a:prstGeom prst="rect">
              <a:avLst/>
            </a:prstGeom>
          </p:spPr>
          <p:txBody>
            <a:bodyPr anchor="t" rtlCol="false" tIns="0" lIns="0" bIns="0" rIns="0">
              <a:spAutoFit/>
            </a:bodyPr>
            <a:lstStyle/>
            <a:p>
              <a:pPr algn="l" marL="0" indent="0" lvl="0">
                <a:lnSpc>
                  <a:spcPts val="10542"/>
                </a:lnSpc>
                <a:spcBef>
                  <a:spcPct val="0"/>
                </a:spcBef>
              </a:pPr>
              <a:r>
                <a:rPr lang="en-US" sz="10542" spc="-316">
                  <a:solidFill>
                    <a:srgbClr val="0A2E4D"/>
                  </a:solidFill>
                  <a:latin typeface="ITC Avant Garde Gothic"/>
                  <a:ea typeface="ITC Avant Garde Gothic"/>
                  <a:cs typeface="ITC Avant Garde Gothic"/>
                  <a:sym typeface="ITC Avant Garde Gothic"/>
                </a:rPr>
                <a:t>Activi</a:t>
              </a:r>
              <a:r>
                <a:rPr lang="en-US" sz="10542" spc="-316" strike="noStrike" u="none">
                  <a:solidFill>
                    <a:srgbClr val="0A2E4D"/>
                  </a:solidFill>
                  <a:latin typeface="ITC Avant Garde Gothic"/>
                  <a:ea typeface="ITC Avant Garde Gothic"/>
                  <a:cs typeface="ITC Avant Garde Gothic"/>
                  <a:sym typeface="ITC Avant Garde Gothic"/>
                </a:rPr>
                <a:t>ties</a:t>
              </a:r>
              <a:r>
                <a:rPr lang="en-US" sz="10542" spc="-316" strike="noStrike" u="none">
                  <a:solidFill>
                    <a:srgbClr val="0A2E4D"/>
                  </a:solidFill>
                  <a:latin typeface="ITC Avant Garde Gothic"/>
                  <a:ea typeface="ITC Avant Garde Gothic"/>
                  <a:cs typeface="ITC Avant Garde Gothic"/>
                  <a:sym typeface="ITC Avant Garde Gothic"/>
                </a:rPr>
                <a:t> Diag</a:t>
              </a:r>
              <a:r>
                <a:rPr lang="en-US" sz="10542" spc="-316" strike="noStrike" u="none">
                  <a:solidFill>
                    <a:srgbClr val="0A2E4D"/>
                  </a:solidFill>
                  <a:latin typeface="ITC Avant Garde Gothic"/>
                  <a:ea typeface="ITC Avant Garde Gothic"/>
                  <a:cs typeface="ITC Avant Garde Gothic"/>
                  <a:sym typeface="ITC Avant Garde Gothic"/>
                </a:rPr>
                <a:t>r</a:t>
              </a:r>
              <a:r>
                <a:rPr lang="en-US" sz="10542" spc="-316" strike="noStrike" u="none">
                  <a:solidFill>
                    <a:srgbClr val="0A2E4D"/>
                  </a:solidFill>
                  <a:latin typeface="ITC Avant Garde Gothic"/>
                  <a:ea typeface="ITC Avant Garde Gothic"/>
                  <a:cs typeface="ITC Avant Garde Gothic"/>
                  <a:sym typeface="ITC Avant Garde Gothic"/>
                </a:rPr>
                <a:t>ams Overv</a:t>
              </a:r>
              <a:r>
                <a:rPr lang="en-US" sz="10542" spc="-316" strike="noStrike" u="none">
                  <a:solidFill>
                    <a:srgbClr val="0A2E4D"/>
                  </a:solidFill>
                  <a:latin typeface="ITC Avant Garde Gothic"/>
                  <a:ea typeface="ITC Avant Garde Gothic"/>
                  <a:cs typeface="ITC Avant Garde Gothic"/>
                  <a:sym typeface="ITC Avant Garde Gothic"/>
                </a:rPr>
                <a:t>i</a:t>
              </a:r>
              <a:r>
                <a:rPr lang="en-US" sz="10542" spc="-316" strike="noStrike" u="none">
                  <a:solidFill>
                    <a:srgbClr val="0A2E4D"/>
                  </a:solidFill>
                  <a:latin typeface="ITC Avant Garde Gothic"/>
                  <a:ea typeface="ITC Avant Garde Gothic"/>
                  <a:cs typeface="ITC Avant Garde Gothic"/>
                  <a:sym typeface="ITC Avant Garde Gothic"/>
                </a:rPr>
                <a:t>ew</a:t>
              </a:r>
            </a:p>
          </p:txBody>
        </p:sp>
        <p:sp>
          <p:nvSpPr>
            <p:cNvPr name="TextBox 4" id="4"/>
            <p:cNvSpPr txBox="true"/>
            <p:nvPr/>
          </p:nvSpPr>
          <p:spPr>
            <a:xfrm rot="0">
              <a:off x="0" y="4879939"/>
              <a:ext cx="22499630" cy="4961503"/>
            </a:xfrm>
            <a:prstGeom prst="rect">
              <a:avLst/>
            </a:prstGeom>
          </p:spPr>
          <p:txBody>
            <a:bodyPr anchor="t" rtlCol="false" tIns="0" lIns="0" bIns="0" rIns="0">
              <a:spAutoFit/>
            </a:bodyPr>
            <a:lstStyle/>
            <a:p>
              <a:pPr algn="l">
                <a:lnSpc>
                  <a:spcPts val="5959"/>
                </a:lnSpc>
              </a:pPr>
            </a:p>
            <a:p>
              <a:pPr algn="l" marL="0" indent="0" lvl="0">
                <a:lnSpc>
                  <a:spcPts val="5959"/>
                </a:lnSpc>
              </a:pPr>
              <a:r>
                <a:rPr lang="en-US" sz="4256">
                  <a:solidFill>
                    <a:srgbClr val="0A2E4D"/>
                  </a:solidFill>
                  <a:latin typeface="TT Fors"/>
                  <a:ea typeface="TT Fors"/>
                  <a:cs typeface="TT Fors"/>
                  <a:sym typeface="TT Fors"/>
                </a:rPr>
                <a:t>This</a:t>
              </a:r>
              <a:r>
                <a:rPr lang="en-US" sz="4256">
                  <a:solidFill>
                    <a:srgbClr val="0A2E4D"/>
                  </a:solidFill>
                  <a:latin typeface="TT Fors"/>
                  <a:ea typeface="TT Fors"/>
                  <a:cs typeface="TT Fors"/>
                  <a:sym typeface="TT Fors"/>
                </a:rPr>
                <a:t> di</a:t>
              </a:r>
              <a:r>
                <a:rPr lang="en-US" sz="4256">
                  <a:solidFill>
                    <a:srgbClr val="0A2E4D"/>
                  </a:solidFill>
                  <a:latin typeface="TT Fors"/>
                  <a:ea typeface="TT Fors"/>
                  <a:cs typeface="TT Fors"/>
                  <a:sym typeface="TT Fors"/>
                </a:rPr>
                <a:t>agrams illustrates the main workflow of the process.</a:t>
              </a:r>
            </a:p>
            <a:p>
              <a:pPr algn="l" marL="0" indent="0" lvl="0">
                <a:lnSpc>
                  <a:spcPts val="5959"/>
                </a:lnSpc>
              </a:pPr>
              <a:r>
                <a:rPr lang="en-US" sz="4256">
                  <a:solidFill>
                    <a:srgbClr val="0A2E4D"/>
                  </a:solidFill>
                  <a:latin typeface="TT Fors"/>
                  <a:ea typeface="TT Fors"/>
                  <a:cs typeface="TT Fors"/>
                  <a:sym typeface="TT Fors"/>
                </a:rPr>
                <a:t>It shows the sequence of actions, decisions, and parallel activities that shape how the system operates.</a:t>
              </a:r>
            </a:p>
            <a:p>
              <a:pPr algn="l" marL="0" indent="0" lvl="0">
                <a:lnSpc>
                  <a:spcPts val="5959"/>
                </a:lnSpc>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35791"/>
            <a:ext cx="16230600" cy="5944457"/>
          </a:xfrm>
          <a:custGeom>
            <a:avLst/>
            <a:gdLst/>
            <a:ahLst/>
            <a:cxnLst/>
            <a:rect r="r" b="b" t="t" l="l"/>
            <a:pathLst>
              <a:path h="5944457" w="16230600">
                <a:moveTo>
                  <a:pt x="0" y="0"/>
                </a:moveTo>
                <a:lnTo>
                  <a:pt x="16230600" y="0"/>
                </a:lnTo>
                <a:lnTo>
                  <a:pt x="16230600" y="5944458"/>
                </a:lnTo>
                <a:lnTo>
                  <a:pt x="0" y="5944458"/>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All Matches R</a:t>
            </a:r>
            <a:r>
              <a:rPr lang="en-US" sz="8000" spc="-240" strike="noStrike" u="none">
                <a:solidFill>
                  <a:srgbClr val="F7F0D9"/>
                </a:solidFill>
                <a:latin typeface="ITC Avant Garde Gothic"/>
                <a:ea typeface="ITC Avant Garde Gothic"/>
                <a:cs typeface="ITC Avant Garde Gothic"/>
                <a:sym typeface="ITC Avant Garde Gothic"/>
              </a:rPr>
              <a:t>esults Activity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692363" y="2149147"/>
            <a:ext cx="14903275" cy="7573795"/>
          </a:xfrm>
          <a:custGeom>
            <a:avLst/>
            <a:gdLst/>
            <a:ahLst/>
            <a:cxnLst/>
            <a:rect r="r" b="b" t="t" l="l"/>
            <a:pathLst>
              <a:path h="7573795" w="14903275">
                <a:moveTo>
                  <a:pt x="0" y="0"/>
                </a:moveTo>
                <a:lnTo>
                  <a:pt x="14903274" y="0"/>
                </a:lnTo>
                <a:lnTo>
                  <a:pt x="14903274" y="7573795"/>
                </a:lnTo>
                <a:lnTo>
                  <a:pt x="0" y="7573795"/>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Game</a:t>
            </a:r>
            <a:r>
              <a:rPr lang="en-US" sz="8000" spc="-240" strike="noStrike" u="none">
                <a:solidFill>
                  <a:srgbClr val="F7F0D9"/>
                </a:solidFill>
                <a:latin typeface="ITC Avant Garde Gothic"/>
                <a:ea typeface="ITC Avant Garde Gothic"/>
                <a:cs typeface="ITC Avant Garde Gothic"/>
                <a:sym typeface="ITC Avant Garde Gothic"/>
              </a:rPr>
              <a:t> Activity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837091"/>
            <a:ext cx="16230600" cy="3489579"/>
          </a:xfrm>
          <a:custGeom>
            <a:avLst/>
            <a:gdLst/>
            <a:ahLst/>
            <a:cxnLst/>
            <a:rect r="r" b="b" t="t" l="l"/>
            <a:pathLst>
              <a:path h="3489579" w="16230600">
                <a:moveTo>
                  <a:pt x="0" y="0"/>
                </a:moveTo>
                <a:lnTo>
                  <a:pt x="16230600" y="0"/>
                </a:lnTo>
                <a:lnTo>
                  <a:pt x="16230600" y="3489579"/>
                </a:lnTo>
                <a:lnTo>
                  <a:pt x="0" y="3489579"/>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Line-up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492108" y="2060576"/>
            <a:ext cx="15303783" cy="7651892"/>
          </a:xfrm>
          <a:custGeom>
            <a:avLst/>
            <a:gdLst/>
            <a:ahLst/>
            <a:cxnLst/>
            <a:rect r="r" b="b" t="t" l="l"/>
            <a:pathLst>
              <a:path h="7651892" w="15303783">
                <a:moveTo>
                  <a:pt x="0" y="0"/>
                </a:moveTo>
                <a:lnTo>
                  <a:pt x="15303784" y="0"/>
                </a:lnTo>
                <a:lnTo>
                  <a:pt x="15303784" y="7651891"/>
                </a:lnTo>
                <a:lnTo>
                  <a:pt x="0" y="7651891"/>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Manage Players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784216" y="2255827"/>
            <a:ext cx="14719567" cy="7470533"/>
          </a:xfrm>
          <a:custGeom>
            <a:avLst/>
            <a:gdLst/>
            <a:ahLst/>
            <a:cxnLst/>
            <a:rect r="r" b="b" t="t" l="l"/>
            <a:pathLst>
              <a:path h="7470533" w="14719567">
                <a:moveTo>
                  <a:pt x="0" y="0"/>
                </a:moveTo>
                <a:lnTo>
                  <a:pt x="14719568" y="0"/>
                </a:lnTo>
                <a:lnTo>
                  <a:pt x="14719568" y="7470532"/>
                </a:lnTo>
                <a:lnTo>
                  <a:pt x="0" y="7470532"/>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Simulation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2429542"/>
            <a:ext cx="16592550" cy="6885908"/>
          </a:xfrm>
          <a:custGeom>
            <a:avLst/>
            <a:gdLst/>
            <a:ahLst/>
            <a:cxnLst/>
            <a:rect r="r" b="b" t="t" l="l"/>
            <a:pathLst>
              <a:path h="6885908" w="16592550">
                <a:moveTo>
                  <a:pt x="0" y="0"/>
                </a:moveTo>
                <a:lnTo>
                  <a:pt x="16592550" y="0"/>
                </a:lnTo>
                <a:lnTo>
                  <a:pt x="16592550" y="6885908"/>
                </a:lnTo>
                <a:lnTo>
                  <a:pt x="0" y="6885908"/>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Select team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2796965"/>
            <a:ext cx="16592550" cy="6264766"/>
          </a:xfrm>
          <a:custGeom>
            <a:avLst/>
            <a:gdLst/>
            <a:ahLst/>
            <a:cxnLst/>
            <a:rect r="r" b="b" t="t" l="l"/>
            <a:pathLst>
              <a:path h="6264766" w="16592550">
                <a:moveTo>
                  <a:pt x="0" y="0"/>
                </a:moveTo>
                <a:lnTo>
                  <a:pt x="16592550" y="0"/>
                </a:lnTo>
                <a:lnTo>
                  <a:pt x="16592550" y="6264765"/>
                </a:lnTo>
                <a:lnTo>
                  <a:pt x="0" y="6264765"/>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Skip Match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3661495"/>
            <a:ext cx="16592550" cy="1037034"/>
          </a:xfrm>
          <a:custGeom>
            <a:avLst/>
            <a:gdLst/>
            <a:ahLst/>
            <a:cxnLst/>
            <a:rect r="r" b="b" t="t" l="l"/>
            <a:pathLst>
              <a:path h="1037034" w="16592550">
                <a:moveTo>
                  <a:pt x="0" y="0"/>
                </a:moveTo>
                <a:lnTo>
                  <a:pt x="16592550" y="0"/>
                </a:lnTo>
                <a:lnTo>
                  <a:pt x="16592550" y="1037034"/>
                </a:lnTo>
                <a:lnTo>
                  <a:pt x="0" y="1037034"/>
                </a:lnTo>
                <a:lnTo>
                  <a:pt x="0" y="0"/>
                </a:lnTo>
                <a:close/>
              </a:path>
            </a:pathLst>
          </a:custGeom>
          <a:blipFill>
            <a:blip r:embed="rId2"/>
            <a:stretch>
              <a:fillRect l="0" t="0" r="0" b="0"/>
            </a:stretch>
          </a:blipFill>
        </p:spPr>
      </p:sp>
      <p:sp>
        <p:nvSpPr>
          <p:cNvPr name="Freeform 3" id="3"/>
          <p:cNvSpPr/>
          <p:nvPr/>
        </p:nvSpPr>
        <p:spPr>
          <a:xfrm flipH="false" flipV="false" rot="0">
            <a:off x="847725" y="5905404"/>
            <a:ext cx="16592550" cy="1202960"/>
          </a:xfrm>
          <a:custGeom>
            <a:avLst/>
            <a:gdLst/>
            <a:ahLst/>
            <a:cxnLst/>
            <a:rect r="r" b="b" t="t" l="l"/>
            <a:pathLst>
              <a:path h="1202960" w="16592550">
                <a:moveTo>
                  <a:pt x="0" y="0"/>
                </a:moveTo>
                <a:lnTo>
                  <a:pt x="16592550" y="0"/>
                </a:lnTo>
                <a:lnTo>
                  <a:pt x="16592550" y="1202960"/>
                </a:lnTo>
                <a:lnTo>
                  <a:pt x="0" y="1202960"/>
                </a:lnTo>
                <a:lnTo>
                  <a:pt x="0" y="0"/>
                </a:lnTo>
                <a:close/>
              </a:path>
            </a:pathLst>
          </a:custGeom>
          <a:blipFill>
            <a:blip r:embed="rId3"/>
            <a:stretch>
              <a:fillRect l="0" t="0" r="0" b="0"/>
            </a:stretch>
          </a:blipFill>
        </p:spPr>
      </p:sp>
      <p:sp>
        <p:nvSpPr>
          <p:cNvPr name="TextBox 4" id="4"/>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League Table </a:t>
            </a:r>
            <a:r>
              <a:rPr lang="en-US" sz="8000" spc="-240" strike="noStrike" u="none">
                <a:solidFill>
                  <a:srgbClr val="F7F0D9"/>
                </a:solidFill>
                <a:latin typeface="ITC Avant Garde Gothic"/>
                <a:ea typeface="ITC Avant Garde Gothic"/>
                <a:cs typeface="ITC Avant Garde Gothic"/>
                <a:sym typeface="ITC Avant Garde Gothic"/>
              </a:rPr>
              <a:t>Activities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937068" y="2401659"/>
            <a:ext cx="16413863" cy="7011747"/>
          </a:xfrm>
          <a:custGeom>
            <a:avLst/>
            <a:gdLst/>
            <a:ahLst/>
            <a:cxnLst/>
            <a:rect r="r" b="b" t="t" l="l"/>
            <a:pathLst>
              <a:path h="7011747" w="16413863">
                <a:moveTo>
                  <a:pt x="0" y="0"/>
                </a:moveTo>
                <a:lnTo>
                  <a:pt x="16413864" y="0"/>
                </a:lnTo>
                <a:lnTo>
                  <a:pt x="16413864" y="7011748"/>
                </a:lnTo>
                <a:lnTo>
                  <a:pt x="0" y="7011748"/>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team details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3147703" y="1069976"/>
            <a:ext cx="11992594" cy="7481784"/>
          </a:xfrm>
          <a:custGeom>
            <a:avLst/>
            <a:gdLst/>
            <a:ahLst/>
            <a:cxnLst/>
            <a:rect r="r" b="b" t="t" l="l"/>
            <a:pathLst>
              <a:path h="7481784" w="11992594">
                <a:moveTo>
                  <a:pt x="0" y="0"/>
                </a:moveTo>
                <a:lnTo>
                  <a:pt x="11992594" y="0"/>
                </a:lnTo>
                <a:lnTo>
                  <a:pt x="11992594" y="7481784"/>
                </a:lnTo>
                <a:lnTo>
                  <a:pt x="0" y="7481784"/>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upcoming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28675" y="4409769"/>
            <a:ext cx="16592550" cy="1265182"/>
          </a:xfrm>
          <a:custGeom>
            <a:avLst/>
            <a:gdLst/>
            <a:ahLst/>
            <a:cxnLst/>
            <a:rect r="r" b="b" t="t" l="l"/>
            <a:pathLst>
              <a:path h="1265182" w="16592550">
                <a:moveTo>
                  <a:pt x="0" y="0"/>
                </a:moveTo>
                <a:lnTo>
                  <a:pt x="16592550" y="0"/>
                </a:lnTo>
                <a:lnTo>
                  <a:pt x="16592550" y="1265182"/>
                </a:lnTo>
                <a:lnTo>
                  <a:pt x="0" y="1265182"/>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Top Scorers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3726" r="0" b="-3726"/>
              </a:stretch>
            </a:blipFill>
          </p:spPr>
        </p:sp>
      </p:grpSp>
      <p:sp>
        <p:nvSpPr>
          <p:cNvPr name="TextBox 4" id="4"/>
          <p:cNvSpPr txBox="true"/>
          <p:nvPr/>
        </p:nvSpPr>
        <p:spPr>
          <a:xfrm rot="0">
            <a:off x="666750" y="657225"/>
            <a:ext cx="8324850"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System States Overview</a:t>
            </a:r>
          </a:p>
        </p:txBody>
      </p:sp>
      <p:sp>
        <p:nvSpPr>
          <p:cNvPr name="TextBox 5" id="5"/>
          <p:cNvSpPr txBox="true"/>
          <p:nvPr/>
        </p:nvSpPr>
        <p:spPr>
          <a:xfrm rot="0">
            <a:off x="666750" y="3057330"/>
            <a:ext cx="8324850" cy="103822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7F0D9"/>
                </a:solidFill>
                <a:latin typeface="ITC Avant Garde Gothic"/>
                <a:ea typeface="ITC Avant Garde Gothic"/>
                <a:cs typeface="ITC Avant Garde Gothic"/>
                <a:sym typeface="ITC Avant Garde Gothic"/>
              </a:rPr>
              <a:t>Understanding the simulator's operational states</a:t>
            </a:r>
          </a:p>
        </p:txBody>
      </p:sp>
      <p:sp>
        <p:nvSpPr>
          <p:cNvPr name="TextBox 6" id="6"/>
          <p:cNvSpPr txBox="true"/>
          <p:nvPr/>
        </p:nvSpPr>
        <p:spPr>
          <a:xfrm rot="0">
            <a:off x="666750" y="4876605"/>
            <a:ext cx="6886575" cy="18421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7F0D9"/>
                </a:solidFill>
                <a:latin typeface="TT Fors"/>
                <a:ea typeface="TT Fors"/>
                <a:cs typeface="TT Fors"/>
                <a:sym typeface="TT Fors"/>
              </a:rPr>
              <a:t>This diagram illustrates the various </a:t>
            </a:r>
            <a:r>
              <a:rPr lang="en-US" b="true" sz="2100" strike="noStrike" u="none">
                <a:solidFill>
                  <a:srgbClr val="F7F0D9"/>
                </a:solidFill>
                <a:latin typeface="TT Fors Bold"/>
                <a:ea typeface="TT Fors Bold"/>
                <a:cs typeface="TT Fors Bold"/>
                <a:sym typeface="TT Fors Bold"/>
              </a:rPr>
              <a:t>states the simulator can adopt</a:t>
            </a:r>
            <a:r>
              <a:rPr lang="en-US" sz="2100" strike="noStrike" u="none">
                <a:solidFill>
                  <a:srgbClr val="F7F0D9"/>
                </a:solidFill>
                <a:latin typeface="TT Fors"/>
                <a:ea typeface="TT Fors"/>
                <a:cs typeface="TT Fors"/>
                <a:sym typeface="TT Fors"/>
              </a:rPr>
              <a:t> during operation, including initialization, match scheduling, and user engagement, providing insights into the dynamic nature of the system.</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11113" y="2179333"/>
            <a:ext cx="17265773" cy="7078967"/>
          </a:xfrm>
          <a:custGeom>
            <a:avLst/>
            <a:gdLst/>
            <a:ahLst/>
            <a:cxnLst/>
            <a:rect r="r" b="b" t="t" l="l"/>
            <a:pathLst>
              <a:path h="7078967" w="17265773">
                <a:moveTo>
                  <a:pt x="0" y="0"/>
                </a:moveTo>
                <a:lnTo>
                  <a:pt x="17265774" y="0"/>
                </a:lnTo>
                <a:lnTo>
                  <a:pt x="17265774" y="7078967"/>
                </a:lnTo>
                <a:lnTo>
                  <a:pt x="0" y="7078967"/>
                </a:lnTo>
                <a:lnTo>
                  <a:pt x="0" y="0"/>
                </a:lnTo>
                <a:close/>
              </a:path>
            </a:pathLst>
          </a:custGeom>
          <a:blipFill>
            <a:blip r:embed="rId2"/>
            <a:stretch>
              <a:fillRect l="0" t="0" r="0" b="0"/>
            </a:stretch>
          </a:blipFill>
        </p:spPr>
      </p:sp>
      <p:sp>
        <p:nvSpPr>
          <p:cNvPr name="TextBox 3" id="3"/>
          <p:cNvSpPr txBox="true"/>
          <p:nvPr/>
        </p:nvSpPr>
        <p:spPr>
          <a:xfrm rot="0">
            <a:off x="666750" y="657225"/>
            <a:ext cx="14221426"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System Architecture Overview</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0A2E4D"/>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12599526"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Class</a:t>
            </a:r>
            <a:r>
              <a:rPr lang="en-US" sz="8000" spc="-240" strike="noStrike" u="none">
                <a:solidFill>
                  <a:srgbClr val="F7F0D9"/>
                </a:solidFill>
                <a:latin typeface="ITC Avant Garde Gothic"/>
                <a:ea typeface="ITC Avant Garde Gothic"/>
                <a:cs typeface="ITC Avant Garde Gothic"/>
                <a:sym typeface="ITC Avant Garde Gothic"/>
              </a:rPr>
              <a:t> </a:t>
            </a:r>
            <a:r>
              <a:rPr lang="en-US" sz="8000" spc="-240" strike="noStrike" u="none">
                <a:solidFill>
                  <a:srgbClr val="F7F0D9"/>
                </a:solidFill>
                <a:latin typeface="ITC Avant Garde Gothic"/>
                <a:ea typeface="ITC Avant Garde Gothic"/>
                <a:cs typeface="ITC Avant Garde Gothic"/>
                <a:sym typeface="ITC Avant Garde Gothic"/>
              </a:rPr>
              <a:t>Diagram </a:t>
            </a:r>
            <a:r>
              <a:rPr lang="en-US" sz="8000" spc="-240" strike="noStrike" u="none">
                <a:solidFill>
                  <a:srgbClr val="F7F0D9"/>
                </a:solidFill>
                <a:latin typeface="ITC Avant Garde Gothic"/>
                <a:ea typeface="ITC Avant Garde Gothic"/>
                <a:cs typeface="ITC Avant Garde Gothic"/>
                <a:sym typeface="ITC Avant Garde Gothic"/>
              </a:rPr>
              <a:t>Overview</a:t>
            </a:r>
          </a:p>
        </p:txBody>
      </p:sp>
      <p:sp>
        <p:nvSpPr>
          <p:cNvPr name="TextBox 3" id="3"/>
          <p:cNvSpPr txBox="true"/>
          <p:nvPr/>
        </p:nvSpPr>
        <p:spPr>
          <a:xfrm rot="0">
            <a:off x="1213716" y="3044237"/>
            <a:ext cx="15711093" cy="3638319"/>
          </a:xfrm>
          <a:prstGeom prst="rect">
            <a:avLst/>
          </a:prstGeom>
        </p:spPr>
        <p:txBody>
          <a:bodyPr anchor="t" rtlCol="false" tIns="0" lIns="0" bIns="0" rIns="0">
            <a:spAutoFit/>
          </a:bodyPr>
          <a:lstStyle/>
          <a:p>
            <a:pPr algn="l" marL="0" indent="0" lvl="0">
              <a:lnSpc>
                <a:spcPts val="5787"/>
              </a:lnSpc>
              <a:spcBef>
                <a:spcPct val="0"/>
              </a:spcBef>
            </a:pPr>
            <a:r>
              <a:rPr lang="en-US" sz="4134">
                <a:solidFill>
                  <a:srgbClr val="F7F0D9"/>
                </a:solidFill>
                <a:latin typeface="TT Fors"/>
                <a:ea typeface="TT Fors"/>
                <a:cs typeface="TT Fors"/>
                <a:sym typeface="TT Fors"/>
              </a:rPr>
              <a:t>Thi</a:t>
            </a:r>
            <a:r>
              <a:rPr lang="en-US" sz="4134" strike="noStrike" u="none">
                <a:solidFill>
                  <a:srgbClr val="F7F0D9"/>
                </a:solidFill>
                <a:latin typeface="TT Fors"/>
                <a:ea typeface="TT Fors"/>
                <a:cs typeface="TT Fors"/>
                <a:sym typeface="TT Fors"/>
              </a:rPr>
              <a:t>s diagram outlines the core classes that form the sim</a:t>
            </a:r>
            <a:r>
              <a:rPr lang="en-US" sz="4134" strike="noStrike" u="none">
                <a:solidFill>
                  <a:srgbClr val="F7F0D9"/>
                </a:solidFill>
                <a:latin typeface="TT Fors"/>
                <a:ea typeface="TT Fors"/>
                <a:cs typeface="TT Fors"/>
                <a:sym typeface="TT Fors"/>
              </a:rPr>
              <a:t>ulator</a:t>
            </a:r>
            <a:r>
              <a:rPr lang="en-US" sz="4134" strike="noStrike" u="none">
                <a:solidFill>
                  <a:srgbClr val="F7F0D9"/>
                </a:solidFill>
                <a:latin typeface="TT Fors"/>
                <a:ea typeface="TT Fors"/>
                <a:cs typeface="TT Fors"/>
                <a:sym typeface="TT Fors"/>
              </a:rPr>
              <a:t>’s structure</a:t>
            </a:r>
            <a:r>
              <a:rPr lang="en-US" sz="4134" strike="noStrike" u="none">
                <a:solidFill>
                  <a:srgbClr val="F7F0D9"/>
                </a:solidFill>
                <a:latin typeface="TT Fors"/>
                <a:ea typeface="TT Fors"/>
                <a:cs typeface="TT Fors"/>
                <a:sym typeface="TT Fors"/>
              </a:rPr>
              <a:t>,</a:t>
            </a:r>
            <a:r>
              <a:rPr lang="en-US" sz="4134" strike="noStrike" u="none">
                <a:solidFill>
                  <a:srgbClr val="F7F0D9"/>
                </a:solidFill>
                <a:latin typeface="TT Fors"/>
                <a:ea typeface="TT Fors"/>
                <a:cs typeface="TT Fors"/>
                <a:sym typeface="TT Fors"/>
              </a:rPr>
              <a:t> highlighting their attributes, operations, and relationships. It provides a clear view of how system components interact and collaborate to deliver the platform’s functionality.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4449444" y="270525"/>
            <a:ext cx="13268583" cy="9745950"/>
          </a:xfrm>
          <a:custGeom>
            <a:avLst/>
            <a:gdLst/>
            <a:ahLst/>
            <a:cxnLst/>
            <a:rect r="r" b="b" t="t" l="l"/>
            <a:pathLst>
              <a:path h="9745950" w="13268583">
                <a:moveTo>
                  <a:pt x="0" y="0"/>
                </a:moveTo>
                <a:lnTo>
                  <a:pt x="13268583" y="0"/>
                </a:lnTo>
                <a:lnTo>
                  <a:pt x="13268583" y="9745950"/>
                </a:lnTo>
                <a:lnTo>
                  <a:pt x="0" y="9745950"/>
                </a:lnTo>
                <a:lnTo>
                  <a:pt x="0" y="0"/>
                </a:lnTo>
                <a:close/>
              </a:path>
            </a:pathLst>
          </a:custGeom>
          <a:blipFill>
            <a:blip r:embed="rId2"/>
            <a:stretch>
              <a:fillRect l="0" t="0" r="0" b="0"/>
            </a:stretch>
          </a:blipFill>
        </p:spPr>
      </p:sp>
      <p:sp>
        <p:nvSpPr>
          <p:cNvPr name="Freeform 3" id="3"/>
          <p:cNvSpPr/>
          <p:nvPr/>
        </p:nvSpPr>
        <p:spPr>
          <a:xfrm flipH="false" flipV="false" rot="0">
            <a:off x="166637" y="1893226"/>
            <a:ext cx="4032469" cy="7555574"/>
          </a:xfrm>
          <a:custGeom>
            <a:avLst/>
            <a:gdLst/>
            <a:ahLst/>
            <a:cxnLst/>
            <a:rect r="r" b="b" t="t" l="l"/>
            <a:pathLst>
              <a:path h="7555574" w="4032469">
                <a:moveTo>
                  <a:pt x="0" y="0"/>
                </a:moveTo>
                <a:lnTo>
                  <a:pt x="4032469" y="0"/>
                </a:lnTo>
                <a:lnTo>
                  <a:pt x="4032469" y="7555574"/>
                </a:lnTo>
                <a:lnTo>
                  <a:pt x="0" y="7555574"/>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2145755" y="1879601"/>
            <a:ext cx="14557089" cy="8029641"/>
          </a:xfrm>
          <a:custGeom>
            <a:avLst/>
            <a:gdLst/>
            <a:ahLst/>
            <a:cxnLst/>
            <a:rect r="r" b="b" t="t" l="l"/>
            <a:pathLst>
              <a:path h="8029641" w="14557089">
                <a:moveTo>
                  <a:pt x="0" y="0"/>
                </a:moveTo>
                <a:lnTo>
                  <a:pt x="14557089" y="0"/>
                </a:lnTo>
                <a:lnTo>
                  <a:pt x="14557089" y="8029640"/>
                </a:lnTo>
                <a:lnTo>
                  <a:pt x="0" y="8029640"/>
                </a:lnTo>
                <a:lnTo>
                  <a:pt x="0" y="0"/>
                </a:lnTo>
                <a:close/>
              </a:path>
            </a:pathLst>
          </a:custGeom>
          <a:blipFill>
            <a:blip r:embed="rId2"/>
            <a:stretch>
              <a:fillRect l="-4011" t="-26524" r="-4507" b="-12666"/>
            </a:stretch>
          </a:blipFill>
        </p:spPr>
      </p:sp>
      <p:sp>
        <p:nvSpPr>
          <p:cNvPr name="TextBox 3" id="3"/>
          <p:cNvSpPr txBox="true"/>
          <p:nvPr/>
        </p:nvSpPr>
        <p:spPr>
          <a:xfrm rot="0">
            <a:off x="5777737" y="453155"/>
            <a:ext cx="6732526" cy="1151091"/>
          </a:xfrm>
          <a:prstGeom prst="rect">
            <a:avLst/>
          </a:prstGeom>
        </p:spPr>
        <p:txBody>
          <a:bodyPr anchor="t" rtlCol="false" tIns="0" lIns="0" bIns="0" rIns="0">
            <a:spAutoFit/>
          </a:bodyPr>
          <a:lstStyle/>
          <a:p>
            <a:pPr algn="l" marL="0" indent="0" lvl="0">
              <a:lnSpc>
                <a:spcPts val="7592"/>
              </a:lnSpc>
              <a:spcBef>
                <a:spcPct val="0"/>
              </a:spcBef>
            </a:pPr>
            <a:r>
              <a:rPr lang="en-US" sz="7592" spc="-227">
                <a:solidFill>
                  <a:srgbClr val="F7F0D9"/>
                </a:solidFill>
                <a:latin typeface="ITC Avant Garde Gothic"/>
                <a:ea typeface="ITC Avant Garde Gothic"/>
                <a:cs typeface="ITC Avant Garde Gothic"/>
                <a:sym typeface="ITC Avant Garde Gothic"/>
              </a:rPr>
              <a:t>Business</a:t>
            </a:r>
            <a:r>
              <a:rPr lang="en-US" sz="7592" spc="-227" strike="noStrike" u="none">
                <a:solidFill>
                  <a:srgbClr val="F7F0D9"/>
                </a:solidFill>
                <a:latin typeface="ITC Avant Garde Gothic"/>
                <a:ea typeface="ITC Avant Garde Gothic"/>
                <a:cs typeface="ITC Avant Garde Gothic"/>
                <a:sym typeface="ITC Avant Garde Gothic"/>
              </a:rPr>
              <a:t> Model</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764443" cy="2309817"/>
          </a:xfrm>
        </p:grpSpPr>
        <p:sp>
          <p:nvSpPr>
            <p:cNvPr name="Freeform 3" id="3"/>
            <p:cNvSpPr/>
            <p:nvPr/>
          </p:nvSpPr>
          <p:spPr>
            <a:xfrm flipH="false" flipV="false" rot="0">
              <a:off x="0" y="0"/>
              <a:ext cx="1764443" cy="2309817"/>
            </a:xfrm>
            <a:custGeom>
              <a:avLst/>
              <a:gdLst/>
              <a:ahLst/>
              <a:cxnLst/>
              <a:rect r="r" b="b" t="t" l="l"/>
              <a:pathLst>
                <a:path h="2309817" w="1764443">
                  <a:moveTo>
                    <a:pt x="0" y="0"/>
                  </a:moveTo>
                  <a:lnTo>
                    <a:pt x="1764443" y="0"/>
                  </a:lnTo>
                  <a:lnTo>
                    <a:pt x="1764443" y="2309817"/>
                  </a:lnTo>
                  <a:lnTo>
                    <a:pt x="0" y="2309817"/>
                  </a:lnTo>
                  <a:close/>
                </a:path>
              </a:pathLst>
            </a:custGeom>
            <a:blipFill>
              <a:blip r:embed="rId2"/>
              <a:stretch>
                <a:fillRect l="0" t="-255" r="0" b="-255"/>
              </a:stretch>
            </a:blipFill>
          </p:spPr>
        </p:sp>
      </p:grpSp>
      <p:sp>
        <p:nvSpPr>
          <p:cNvPr name="TextBox 4" id="4"/>
          <p:cNvSpPr txBox="true"/>
          <p:nvPr/>
        </p:nvSpPr>
        <p:spPr>
          <a:xfrm rot="0">
            <a:off x="1028700" y="3724957"/>
            <a:ext cx="7328566" cy="1418543"/>
          </a:xfrm>
          <a:prstGeom prst="rect">
            <a:avLst/>
          </a:prstGeom>
        </p:spPr>
        <p:txBody>
          <a:bodyPr anchor="t" rtlCol="false" tIns="0" lIns="0" bIns="0" rIns="0">
            <a:spAutoFit/>
          </a:bodyPr>
          <a:lstStyle/>
          <a:p>
            <a:pPr algn="l" marL="0" indent="0" lvl="0">
              <a:lnSpc>
                <a:spcPts val="9348"/>
              </a:lnSpc>
              <a:spcBef>
                <a:spcPct val="0"/>
              </a:spcBef>
            </a:pPr>
            <a:r>
              <a:rPr lang="en-US" sz="9348" spc="-280">
                <a:solidFill>
                  <a:srgbClr val="0A2E4D"/>
                </a:solidFill>
                <a:latin typeface="ITC Avant Garde Gothic"/>
                <a:ea typeface="ITC Avant Garde Gothic"/>
                <a:cs typeface="ITC Avant Garde Gothic"/>
                <a:sym typeface="ITC Avant Garde Gothic"/>
              </a:rPr>
              <a:t>Thank you </a:t>
            </a:r>
          </a:p>
        </p:txBody>
      </p:sp>
      <p:grpSp>
        <p:nvGrpSpPr>
          <p:cNvPr name="Group 5" id="5"/>
          <p:cNvGrpSpPr/>
          <p:nvPr/>
        </p:nvGrpSpPr>
        <p:grpSpPr>
          <a:xfrm rot="0">
            <a:off x="-1303343"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9" id="9"/>
          <p:cNvSpPr txBox="true"/>
          <p:nvPr/>
        </p:nvSpPr>
        <p:spPr>
          <a:xfrm rot="0">
            <a:off x="1028700" y="5133975"/>
            <a:ext cx="7862389" cy="741045"/>
          </a:xfrm>
          <a:prstGeom prst="rect">
            <a:avLst/>
          </a:prstGeom>
        </p:spPr>
        <p:txBody>
          <a:bodyPr anchor="t" rtlCol="false" tIns="0" lIns="0" bIns="0" rIns="0">
            <a:spAutoFit/>
          </a:bodyPr>
          <a:lstStyle/>
          <a:p>
            <a:pPr algn="l">
              <a:lnSpc>
                <a:spcPts val="4800"/>
              </a:lnSpc>
              <a:spcBef>
                <a:spcPct val="0"/>
              </a:spcBef>
            </a:pPr>
            <a:r>
              <a:rPr lang="en-US" sz="4800" spc="-144">
                <a:solidFill>
                  <a:srgbClr val="0A2E4D"/>
                </a:solidFill>
                <a:latin typeface="ITC Avant Garde Gothic"/>
                <a:ea typeface="ITC Avant Garde Gothic"/>
                <a:cs typeface="ITC Avant Garde Gothic"/>
                <a:sym typeface="ITC Avant Garde Gothic"/>
              </a:rPr>
              <a:t>f</a:t>
            </a:r>
            <a:r>
              <a:rPr lang="en-US" sz="4800" spc="-144">
                <a:solidFill>
                  <a:srgbClr val="0A2E4D"/>
                </a:solidFill>
                <a:latin typeface="ITC Avant Garde Gothic"/>
                <a:ea typeface="ITC Avant Garde Gothic"/>
                <a:cs typeface="ITC Avant Garde Gothic"/>
                <a:sym typeface="ITC Avant Garde Gothic"/>
              </a:rPr>
              <a:t>or being part of our journey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DAG56l3K81c</dc:identifier>
  <dcterms:modified xsi:type="dcterms:W3CDTF">2011-08-01T06:04:30Z</dcterms:modified>
  <cp:revision>1</cp:revision>
  <dc:title>Egyptian Football League Simulator</dc:title>
</cp:coreProperties>
</file>